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ab8f4055b34092" /><Relationship Type="http://schemas.openxmlformats.org/officeDocument/2006/relationships/extended-properties" Target="/docProps/app.xml" Id="R12b41a09939e4bcb" /><Relationship Type="http://schemas.openxmlformats.org/officeDocument/2006/relationships/officeDocument" Target="/ppt/presentation.xml" Id="R6fa16fba8a5d44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6355be2cd74b31"/>
  </p:sldMasterIdLst>
  <p:notesMasterIdLst>
    <p:notesMasterId xmlns:r="http://schemas.openxmlformats.org/officeDocument/2006/relationships" r:id="Rc609190412f34ccb"/>
  </p:notesMasterIdLst>
  <p:sldIdLst>
    <p:sldId xmlns:r="http://schemas.openxmlformats.org/officeDocument/2006/relationships" id="256" r:id="Rbc69b1e56fc94dd0"/>
    <p:sldId xmlns:r="http://schemas.openxmlformats.org/officeDocument/2006/relationships" id="257" r:id="R302c97764ae348d7"/>
    <p:sldId xmlns:r="http://schemas.openxmlformats.org/officeDocument/2006/relationships" id="258" r:id="Re59ee45d6c9e4b27"/>
    <p:sldId xmlns:r="http://schemas.openxmlformats.org/officeDocument/2006/relationships" id="259" r:id="R7b441fe1be1e4390"/>
    <p:sldId xmlns:r="http://schemas.openxmlformats.org/officeDocument/2006/relationships" id="260" r:id="Ref2923d9670249d9"/>
    <p:sldId xmlns:r="http://schemas.openxmlformats.org/officeDocument/2006/relationships" id="261" r:id="R3a9867477fb4448b"/>
    <p:sldId xmlns:r="http://schemas.openxmlformats.org/officeDocument/2006/relationships" id="262" r:id="R8ed9858676d84adf"/>
    <p:sldId xmlns:r="http://schemas.openxmlformats.org/officeDocument/2006/relationships" id="263" r:id="R8a1d96b664dc4c87"/>
    <p:sldId xmlns:r="http://schemas.openxmlformats.org/officeDocument/2006/relationships" id="264" r:id="R1816ac3fa5334347"/>
    <p:sldId xmlns:r="http://schemas.openxmlformats.org/officeDocument/2006/relationships" id="265" r:id="R12bfdebaf57a43ff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6355be2cd74b31" /><Relationship Type="http://schemas.openxmlformats.org/officeDocument/2006/relationships/theme" Target="/ppt/theme/theme1.xml" Id="R820b6e21347a4ca1" /><Relationship Type="http://schemas.openxmlformats.org/officeDocument/2006/relationships/notesMaster" Target="/ppt/notesMasters/notesMaster1.xml" Id="Rc609190412f34ccb" /><Relationship Type="http://schemas.openxmlformats.org/officeDocument/2006/relationships/presProps" Target="/ppt/presProps.xml" Id="R7ccc66a336974e89" /><Relationship Type="http://schemas.openxmlformats.org/officeDocument/2006/relationships/viewProps" Target="/ppt/viewProps.xml" Id="Rf29b3c9ed6dc4688" /><Relationship Type="http://schemas.openxmlformats.org/officeDocument/2006/relationships/tableStyles" Target="/ppt/tableStyles.xml" Id="R8e57d84645d14b4a" /><Relationship Type="http://schemas.openxmlformats.org/officeDocument/2006/relationships/slide" Target="/ppt/slides/slide1.xml" Id="Rbc69b1e56fc94dd0" /><Relationship Type="http://schemas.openxmlformats.org/officeDocument/2006/relationships/slide" Target="/ppt/slides/slide2.xml" Id="R302c97764ae348d7" /><Relationship Type="http://schemas.openxmlformats.org/officeDocument/2006/relationships/slide" Target="/ppt/slides/slide3.xml" Id="Re59ee45d6c9e4b27" /><Relationship Type="http://schemas.openxmlformats.org/officeDocument/2006/relationships/slide" Target="/ppt/slides/slide4.xml" Id="R7b441fe1be1e4390" /><Relationship Type="http://schemas.openxmlformats.org/officeDocument/2006/relationships/slide" Target="/ppt/slides/slide5.xml" Id="Ref2923d9670249d9" /><Relationship Type="http://schemas.openxmlformats.org/officeDocument/2006/relationships/slide" Target="/ppt/slides/slide6.xml" Id="R3a9867477fb4448b" /><Relationship Type="http://schemas.openxmlformats.org/officeDocument/2006/relationships/slide" Target="/ppt/slides/slide7.xml" Id="R8ed9858676d84adf" /><Relationship Type="http://schemas.openxmlformats.org/officeDocument/2006/relationships/slide" Target="/ppt/slides/slide8.xml" Id="R8a1d96b664dc4c87" /><Relationship Type="http://schemas.openxmlformats.org/officeDocument/2006/relationships/slide" Target="/ppt/slides/slide9.xml" Id="R1816ac3fa5334347" /><Relationship Type="http://schemas.openxmlformats.org/officeDocument/2006/relationships/slide" Target="/ppt/slides/slide10.xml" Id="R12bfdebaf57a43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e8a44c03f6e49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600eab62fe4164" /><Relationship Type="http://schemas.openxmlformats.org/officeDocument/2006/relationships/notesMaster" Target="/ppt/notesMasters/notesMaster1.xml" Id="R4ad90396a6024c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c1c4a4c0c4c4c9d" /><Relationship Type="http://schemas.openxmlformats.org/officeDocument/2006/relationships/notesMaster" Target="/ppt/notesMasters/notesMaster1.xml" Id="Rb4089a7b008943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871a14ace34e4f" /><Relationship Type="http://schemas.openxmlformats.org/officeDocument/2006/relationships/notesMaster" Target="/ppt/notesMasters/notesMaster1.xml" Id="R86545501036f4d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084e1aadc740b5" /><Relationship Type="http://schemas.openxmlformats.org/officeDocument/2006/relationships/notesMaster" Target="/ppt/notesMasters/notesMaster1.xml" Id="R911c83f97c994e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9bb2fd94bd4b1d" /><Relationship Type="http://schemas.openxmlformats.org/officeDocument/2006/relationships/notesMaster" Target="/ppt/notesMasters/notesMaster1.xml" Id="R89b5907ed7fe47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f7a112608b4fc4" /><Relationship Type="http://schemas.openxmlformats.org/officeDocument/2006/relationships/notesMaster" Target="/ppt/notesMasters/notesMaster1.xml" Id="R14b074832a2c45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526f20c2a3410c" /><Relationship Type="http://schemas.openxmlformats.org/officeDocument/2006/relationships/notesMaster" Target="/ppt/notesMasters/notesMaster1.xml" Id="Rceb26c59768a45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d0864abcd44b40" /><Relationship Type="http://schemas.openxmlformats.org/officeDocument/2006/relationships/notesMaster" Target="/ppt/notesMasters/notesMaster1.xml" Id="R52ffde527d3948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3886a35537467b" /><Relationship Type="http://schemas.openxmlformats.org/officeDocument/2006/relationships/notesMaster" Target="/ppt/notesMasters/notesMaster1.xml" Id="Rf1d829918a9d40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edb2d4c54e42a9" /><Relationship Type="http://schemas.openxmlformats.org/officeDocument/2006/relationships/notesMaster" Target="/ppt/notesMasters/notesMaster1.xml" Id="R8e4b461c80184f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Sobha promise: premium quality at scale. The pitch is not another dashboard. It is an operating layer that protects their brand promise as projects, vendors, approvals, evidence, and handovers multiply.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shows we studied Sobha. We are not pitching generic proptech; we are mapping directly to what they say differentiates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operating insight: Sobha has control across the chain, but the chain itself becomes the risk surface. 4C360 makes handoffs visible before they become board issues.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evidence-led. These are not accusations. They are realistic pressure points that naturally appear when a premium developer scales delivery volume.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product moment: one operating twin, not isolated charts. It is connected to the ProjectCommand demo the user can see live.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demo every tab. Show cause and consequence. The facade delay is strong because it touches vendor, programme, fit-out, cost, and confidence.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it practical. The pitch is not AI theatre; these are efficiency levers that reduce friction in quality, approval, vendor, and handover workflows.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pilot has to be bounded. The commercial ask is a discovery workshop and selecting a live project candidate.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scorecard makes the pilot executive-safe. We are not asking them to believe in AI; we are asking them to measure earlier decisions and reduced friction.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a specific, low-risk ask. They should leave knowing the next step is a discovery workshop and pilot candidate selection.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17e1d88748499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139dfe189bc4bc8" /><Relationship Type="http://schemas.openxmlformats.org/officeDocument/2006/relationships/slideLayout" Target="/ppt/slideLayouts/slideLayout2.xml" Id="R2e5dc1bfd2e948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5dc1bfd2e948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d87da1b78048ca" /><Relationship Type="http://schemas.openxmlformats.org/officeDocument/2006/relationships/notesSlide" Target="/ppt/notesSlides/notesSlide1.xml" Id="R028df6e0b15447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20381596b3492f" /><Relationship Type="http://schemas.openxmlformats.org/officeDocument/2006/relationships/notesSlide" Target="/ppt/notesSlides/notesSlide2.xml" Id="R6d6c827af00d4d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b1af7400cc4ec6" /><Relationship Type="http://schemas.openxmlformats.org/officeDocument/2006/relationships/notesSlide" Target="/ppt/notesSlides/notesSlide3.xml" Id="R076c301ffcbe4c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415e59f31f449c" /><Relationship Type="http://schemas.openxmlformats.org/officeDocument/2006/relationships/notesSlide" Target="/ppt/notesSlides/notesSlide4.xml" Id="Re82dd5d6ffd54b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d91075da974cc9" /><Relationship Type="http://schemas.openxmlformats.org/officeDocument/2006/relationships/notesSlide" Target="/ppt/notesSlides/notesSlide5.xml" Id="R7be7b62481614d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0feb6d3b4644f1" /><Relationship Type="http://schemas.openxmlformats.org/officeDocument/2006/relationships/notesSlide" Target="/ppt/notesSlides/notesSlide6.xml" Id="R52b6b01eff484a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4fab3f6f7748d0" /><Relationship Type="http://schemas.openxmlformats.org/officeDocument/2006/relationships/notesSlide" Target="/ppt/notesSlides/notesSlide7.xml" Id="R20df8450984247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ed48676ced4db7" /><Relationship Type="http://schemas.openxmlformats.org/officeDocument/2006/relationships/notesSlide" Target="/ppt/notesSlides/notesSlide8.xml" Id="R4d95768994e64f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4bed0551114e72" /><Relationship Type="http://schemas.openxmlformats.org/officeDocument/2006/relationships/notesSlide" Target="/ppt/notesSlides/notesSlide9.xml" Id="Rcd11fce4df1448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8b93792d14419f" /><Relationship Type="http://schemas.openxmlformats.org/officeDocument/2006/relationships/notesSlide" Target="/ppt/notesSlides/notesSlide10.xml" Id="R303a6c2c18344cf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221315-07BC-438F-BC1E-F070D05D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34B99-B8AF-4DFF-94F4-6221FF6B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1248"/>
            <a:ext cx="1181481" cy="5410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19CE6-74C2-472E-9F10-657B302D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38400"/>
            <a:ext cx="876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DA8FA-CB28-4346-8915-063F686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981" y="2361248"/>
            <a:ext cx="2203704" cy="54102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FDEA7-BAA4-4F2D-89E0-C3B8FA7F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38400"/>
            <a:ext cx="1905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Evidence-led executive pitch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BFB4A-0DFA-49FB-BFDF-E795A1A8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901065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 i="0">
                <a:solidFill>
                  <a:srgbClr val="F4F7FB"/>
                </a:solidFill>
              </a:defRPr>
            </a:pPr>
            <a:r>
              <a:rPr sz="5400" b="1" i="0">
                <a:solidFill>
                  <a:srgbClr val="F4F7FB"/>
                </a:solidFill>
              </a:rPr>
              <a:t>Why Sobha, why now: scale the Art of Detail with a live control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A500E-7E05-4FF8-8A05-37421600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19800"/>
            <a:ext cx="92773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0" i="0">
                <a:solidFill>
                  <a:srgbClr val="B9C7D9"/>
                </a:solidFill>
              </a:defRPr>
            </a:pPr>
            <a:r>
              <a:rPr sz="2100" b="0" i="0">
                <a:solidFill>
                  <a:srgbClr val="B9C7D9"/>
                </a:solidFill>
              </a:rPr>
              <a:t>4C360 positions ProjectCommand as the operating twin for premium delivery: quality, programme, cost, evidence, approvals, vendors, handover, and resident readiness in one live decision layer.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6DB6E0-C870-47C4-8F3C-5AD77681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2961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45D"/>
          </a:solidFill>
          <a:ln xmlns:a="http://schemas.openxmlformats.org/drawingml/2006/main" w="0">
            <a:solidFill>
              <a:srgbClr val="C7A4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8F5639-00B5-4E31-879E-879853E0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76771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6F86A3"/>
                </a:solidFill>
              </a:defRPr>
            </a:pPr>
            <a:r>
              <a:rPr sz="1650" b="0" i="0">
                <a:solidFill>
                  <a:srgbClr val="6F86A3"/>
                </a:solidFill>
              </a:rPr>
              <a:t>Prepared for Sobha executive leadership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D9B03F-D607-4663-85C6-318D5D5E0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2667000"/>
            <a:ext cx="4953000" cy="4953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243E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219F42-B308-4D9F-A8FE-193DFF63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3276600"/>
            <a:ext cx="3714750" cy="3714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2F4D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16F8F7-FFE2-4FCA-8D65-54238E76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0" y="3962400"/>
            <a:ext cx="2381250" cy="2381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A5D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97DC05-8C50-4F93-9FFD-D02FDED8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3829050"/>
            <a:ext cx="41148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 i="0">
                <a:solidFill>
                  <a:srgbClr val="C7A45D"/>
                </a:solidFill>
              </a:defRPr>
            </a:pPr>
            <a:r>
              <a:rPr sz="4650" b="1" i="0">
                <a:solidFill>
                  <a:srgbClr val="C7A45D"/>
                </a:solidFill>
              </a:rPr>
              <a:t>AED 30B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4C029-B674-4CB7-963D-AE443675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6900" y="4705350"/>
            <a:ext cx="22098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B9C7D9"/>
                </a:solidFill>
              </a:defRPr>
            </a:pPr>
            <a:r>
              <a:rPr sz="1350" b="0" i="0">
                <a:solidFill>
                  <a:srgbClr val="B9C7D9"/>
                </a:solidFill>
              </a:rPr>
              <a:t>FY2025 sales reported by Sobha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1D6BD3-ADC5-441E-9EE2-50626493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5086350"/>
            <a:ext cx="4114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 i="0">
                <a:solidFill>
                  <a:srgbClr val="F4F7FB"/>
                </a:solidFill>
              </a:defRPr>
            </a:pPr>
            <a:r>
              <a:rPr sz="2700" b="1" i="0">
                <a:solidFill>
                  <a:srgbClr val="F4F7FB"/>
                </a:solidFill>
              </a:rPr>
              <a:t>14 UAE developments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1362E5-BCC7-4A64-8A2F-B56EDBCC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5676900"/>
            <a:ext cx="4114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 i="0">
                <a:solidFill>
                  <a:srgbClr val="18D3FF"/>
                </a:solidFill>
              </a:defRPr>
            </a:pPr>
            <a:r>
              <a:rPr sz="2700" b="1" i="0">
                <a:solidFill>
                  <a:srgbClr val="18D3FF"/>
                </a:solidFill>
              </a:rPr>
              <a:t>97/100 GRESB score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8CF13-7F52-4C48-990D-9849BC48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0" y="6248400"/>
            <a:ext cx="3200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0" i="0">
                <a:solidFill>
                  <a:srgbClr val="B9C7D9"/>
                </a:solidFill>
              </a:defRPr>
            </a:pPr>
            <a:r>
              <a:rPr sz="1350" b="0" i="0">
                <a:solidFill>
                  <a:srgbClr val="B9C7D9"/>
                </a:solidFill>
              </a:rPr>
              <a:t>Growth makes live operating control strategic.</a:t>
            </a:r>
          </a:p>
        </p:txBody>
      </p:sp>
    </p:spTree>
    <p:extLst>
      <p:ext uri="{BB962C8B-B14F-4D97-AF65-F5344CB8AC3E}">
        <p14:creationId xmlns:p14="http://schemas.microsoft.com/office/powerpoint/2010/main" val="54039582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5157C86D-2D88-4A43-A933-F8E9AC53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1632E157-C69A-44AC-8993-8B448CB5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F9BE8-21DB-48DA-8C41-9791B526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DAB6BE-13FC-4A7A-B771-AEA57977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8D4DE9-3744-419C-9204-14D77D70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0E2B33-3D23-4513-8123-01CB07B0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9CE54-D741-48D4-B508-E738F090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Sobha public strengths point to the right wedge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67F3BB-53E1-4752-B336-78E9D971A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2A89DA-503A-4573-80C4-733A46BA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1D97AA-A955-46AE-B985-65B5295C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53911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C7A45D"/>
                </a:solidFill>
              </a:defRPr>
            </a:pPr>
            <a:r>
              <a:rPr sz="2400" b="1" i="0">
                <a:solidFill>
                  <a:srgbClr val="C7A45D"/>
                </a:solidFill>
              </a:rPr>
              <a:t>Signature quality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AD9A0B-F1E7-4547-9F0E-9032D3D8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53911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B9C7D9"/>
                </a:solidFill>
              </a:defRPr>
            </a:pPr>
            <a:r>
              <a:rPr sz="1800" b="0" i="0">
                <a:solidFill>
                  <a:srgbClr val="B9C7D9"/>
                </a:solidFill>
              </a:rPr>
              <a:t>Sobha publicly emphasizes in-house engineers, craftsmen, technicians, specialists, and a quality control cell reporting to the Group Chairman.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D2896-0C6C-433D-B4E4-9A4F0DA3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5391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D859F8-5E82-4009-9CB1-53035BDC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F4F7FB"/>
                </a:solidFill>
              </a:defRPr>
            </a:pPr>
            <a:r>
              <a:rPr sz="1800" b="1" i="0">
                <a:solidFill>
                  <a:srgbClr val="F4F7FB"/>
                </a:solidFill>
              </a:rPr>
              <a:t>Pitch translation: make quality measurable, traceable, and exception-led.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4BE678-37F2-470A-8DCC-E7BCB299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485900"/>
            <a:ext cx="53911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18D3FF"/>
                </a:solidFill>
              </a:defRPr>
            </a:pPr>
            <a:r>
              <a:rPr sz="2400" b="1" i="0">
                <a:solidFill>
                  <a:srgbClr val="18D3FF"/>
                </a:solidFill>
              </a:rPr>
              <a:t>Backward 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7F034-C72D-4916-BAE4-9E2F0DF8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19300"/>
            <a:ext cx="53911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B9C7D9"/>
                </a:solidFill>
              </a:defRPr>
            </a:pPr>
            <a:r>
              <a:rPr sz="1800" b="0" i="0">
                <a:solidFill>
                  <a:srgbClr val="B9C7D9"/>
                </a:solidFill>
              </a:rPr>
              <a:t>Sobha describes strict quality and efficiency controls across design, construction, facade, joinery, PODs, FM, community management, and security.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AD25B-F463-410C-98AE-CA6F55D1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28950"/>
            <a:ext cx="5391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EF846C-521D-445C-93D3-EFDD0FA4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194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F4F7FB"/>
                </a:solidFill>
              </a:defRPr>
            </a:pPr>
            <a:r>
              <a:rPr sz="1800" b="1" i="0">
                <a:solidFill>
                  <a:srgbClr val="F4F7FB"/>
                </a:solidFill>
              </a:rPr>
              <a:t>Pitch translation: connect factory, site, vendors, QA, approvals, and handover.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3BF0D7-A050-4405-8001-0D877AB6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1485900"/>
            <a:ext cx="53911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 i="0">
                <a:solidFill>
                  <a:srgbClr val="40D489"/>
                </a:solidFill>
              </a:defRPr>
            </a:pPr>
            <a:r>
              <a:rPr sz="2400" b="1" i="0">
                <a:solidFill>
                  <a:srgbClr val="40D489"/>
                </a:solidFill>
              </a:rPr>
              <a:t>Sustainability and scale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61ADF-AF63-4553-A053-4894F9B4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019300"/>
            <a:ext cx="53911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B9C7D9"/>
                </a:solidFill>
              </a:defRPr>
            </a:pPr>
            <a:r>
              <a:rPr sz="1800" b="0" i="0">
                <a:solidFill>
                  <a:srgbClr val="B9C7D9"/>
                </a:solidFill>
              </a:rPr>
              <a:t>Sobha reports GRESB improvement, green finance activity, and continued project expansion across UAE and international markets.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3A224E-1751-402E-B403-AE8699B5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028950"/>
            <a:ext cx="5391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A3D7FD-B1BC-41AE-97B3-30BB15F6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219450"/>
            <a:ext cx="5391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F4F7FB"/>
                </a:solidFill>
              </a:defRPr>
            </a:pPr>
            <a:r>
              <a:rPr sz="1800" b="1" i="0">
                <a:solidFill>
                  <a:srgbClr val="F4F7FB"/>
                </a:solidFill>
              </a:rPr>
              <a:t>Pitch translation: make ESG and delivery proof operational, not retrospective.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B0AA12-14FC-4825-9B77-6F79A946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Sources: Sobha Signature Quality page; Sobha Energy Solutions press release; FY2025 update.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DA8D68-77AB-46F4-8116-55F311DAD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21180459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B9090BCE-3036-46C3-9EA1-C86B2929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C7180D98-8119-47BA-A6CC-237619D5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DEE5F-61BA-46C0-942A-BD4F8CF1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23D0F5-5327-4F84-A502-9433FCD0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7A082-757C-4BE1-86F4-6BD9D767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7CED8-0EF9-4818-98A2-13F39153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D7AF17-E578-4160-95B3-95F0CB4F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The hidden challenge: preserving premium quality while scaling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671FB-16EA-4854-9470-B4605276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D920C-0174-4AA3-9C5A-FAE2F5DB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6C21B7-BA50-4C99-962E-786222E3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6553200" cy="1866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 i="0">
                <a:solidFill>
                  <a:srgbClr val="F4F7FB"/>
                </a:solidFill>
              </a:defRPr>
            </a:pPr>
            <a:r>
              <a:rPr sz="4050" b="1" i="0">
                <a:solidFill>
                  <a:srgbClr val="F4F7FB"/>
                </a:solidFill>
              </a:rPr>
              <a:t>Scale does not break quality at the headline level. It breaks in handoffs.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209A40-D8C6-40AE-BE83-A60F62DA8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62650"/>
            <a:ext cx="723900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B9C7D9"/>
                </a:solidFill>
              </a:defRPr>
            </a:pPr>
            <a:r>
              <a:rPr sz="1950" b="0" i="0">
                <a:solidFill>
                  <a:srgbClr val="B9C7D9"/>
                </a:solidFill>
              </a:rPr>
              <a:t>Design changes, vendor delays, inspection evidence, authority approvals, commissioning certificates, snag closure, and handover packs can each look local until they compound into delivery confidence risk.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7E298-BDCC-4FDC-A2EE-8FBE4AED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9570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C7A45D"/>
                </a:solidFill>
              </a:defRPr>
            </a:pPr>
            <a:r>
              <a:rPr sz="1650" b="1" i="0">
                <a:solidFill>
                  <a:srgbClr val="C7A45D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E35C6-8ACC-4477-9596-0AB54D78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290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45D"/>
          </a:solidFill>
          <a:ln xmlns:a="http://schemas.openxmlformats.org/drawingml/2006/main" w="0">
            <a:solidFill>
              <a:srgbClr val="C7A45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0BC51E-0CB0-45CB-89B8-77AD7B9A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5760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Design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8F6088-EF76-453A-A2BA-ADBD8518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9100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C7A45D"/>
                </a:solidFill>
              </a:defRPr>
            </a:pPr>
            <a:r>
              <a:rPr sz="1650" b="1" i="0">
                <a:solidFill>
                  <a:srgbClr val="C7A45D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04B757-805E-45C5-8780-070BFE62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0530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45D"/>
          </a:solidFill>
          <a:ln xmlns:a="http://schemas.openxmlformats.org/drawingml/2006/main" w="0">
            <a:solidFill>
              <a:srgbClr val="C7A45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EFA43B-E607-4813-9C5D-D94C0E91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5290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Procurement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D2504C-1FA5-4F20-B8D6-524B05DC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6725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C7A45D"/>
                </a:solidFill>
              </a:defRPr>
            </a:pPr>
            <a:r>
              <a:rPr sz="1650" b="1" i="0">
                <a:solidFill>
                  <a:srgbClr val="C7A45D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3093D9-5FF1-481E-BE5E-5543F1DF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80060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45D"/>
          </a:solidFill>
          <a:ln xmlns:a="http://schemas.openxmlformats.org/drawingml/2006/main" w="0">
            <a:solidFill>
              <a:srgbClr val="C7A4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F4577E-73F6-42B9-9BF7-9161B3D6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62915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Factory output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47134-7968-4FFE-88BC-D2F43F54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6255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C7A45D"/>
                </a:solidFill>
              </a:defRPr>
            </a:pPr>
            <a:r>
              <a:rPr sz="1650" b="1" i="0">
                <a:solidFill>
                  <a:srgbClr val="C7A45D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C58F0C-50F5-4925-BDEB-7E665CE4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2768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45D"/>
          </a:solidFill>
          <a:ln xmlns:a="http://schemas.openxmlformats.org/drawingml/2006/main" w="0">
            <a:solidFill>
              <a:srgbClr val="C7A45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B4E19E-0F40-45F1-84DD-F072D4C89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12445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Site progress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1E0D6-8F9C-4A7D-B8BB-F1979C40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63880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4AFDF5-0BB6-46B7-8200-75269215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75310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D3FF"/>
          </a:solidFill>
          <a:ln xmlns:a="http://schemas.openxmlformats.org/drawingml/2006/main" w="0">
            <a:solidFill>
              <a:srgbClr val="18D3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3127C-5277-4189-A6E1-CE208F92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60070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Inspection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0F6EE5-5F9E-41E0-9ED6-911759A7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611505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408FF2-B575-4583-B83B-D78EBB60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24840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D3FF"/>
          </a:solidFill>
          <a:ln xmlns:a="http://schemas.openxmlformats.org/drawingml/2006/main" w="0">
            <a:solidFill>
              <a:srgbClr val="18D3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471442-E88A-49C2-9526-E1C50879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7695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Approval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382F8C-3815-4B4A-9436-401C4183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661035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07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FE059C-8D0C-4C3C-8F8D-80998E94B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72465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D3FF"/>
          </a:solidFill>
          <a:ln xmlns:a="http://schemas.openxmlformats.org/drawingml/2006/main" w="0">
            <a:solidFill>
              <a:srgbClr val="18D3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2E8B1F-9EAD-4FD3-A3AF-445D8E7E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57225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Handover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FD99DC-468E-4CB8-A226-25BF636D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7086600"/>
            <a:ext cx="533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08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77510B-3B7E-45B8-906D-45EEFAD4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7200900"/>
            <a:ext cx="76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D3FF"/>
          </a:solidFill>
          <a:ln xmlns:a="http://schemas.openxmlformats.org/drawingml/2006/main" w="0">
            <a:solidFill>
              <a:srgbClr val="18D3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659D3B-0D6D-4E9C-AC8B-644C3D24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7048500"/>
            <a:ext cx="7296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F4F7FB"/>
                </a:solidFill>
              </a:defRPr>
            </a:pPr>
            <a:r>
              <a:rPr sz="2175" b="1" i="0">
                <a:solidFill>
                  <a:srgbClr val="F4F7FB"/>
                </a:solidFill>
              </a:rPr>
              <a:t>Resident trust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E43C6E-AAFA-4263-AEEF-59BE618D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Inference based on Sobha public operating model and common scale risks in construction delivery.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EA3F21-98E3-443F-A348-C46ECBA3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150499380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CF79D209-33F7-4E9B-ADB7-F37582D3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56FC2926-9FDE-4314-A178-A4E67459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6F57F6-4FA8-4690-8E61-A9DDA961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8C49A7-89A6-488C-9C6D-5E7F774E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F6948F-C350-425D-B84F-ADB42872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9CEBC7-BCCB-4D79-AA65-735FEAFF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195B1-CD62-4DAE-B603-CBC57976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Pain point map: where 4C360 solves real operating friction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DBF388-E649-48A4-B1D2-49F720B6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45D71F-0A43-417C-9EB6-55AFE7A2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8662DB-41C5-4C5A-ACE8-B4D85FF1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43053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C7A45D"/>
                </a:solidFill>
              </a:defRPr>
            </a:pPr>
            <a:r>
              <a:rPr sz="1425" b="1" i="0">
                <a:solidFill>
                  <a:srgbClr val="C7A45D"/>
                </a:solidFill>
              </a:rPr>
              <a:t>Pain area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C1F40-9713-4CF5-BD87-03EC6443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85900"/>
            <a:ext cx="59817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C7A45D"/>
                </a:solidFill>
              </a:defRPr>
            </a:pPr>
            <a:r>
              <a:rPr sz="1425" b="1" i="0">
                <a:solidFill>
                  <a:srgbClr val="C7A45D"/>
                </a:solidFill>
              </a:rPr>
              <a:t>Real operational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F2006-1E53-436C-85C2-DD01CC08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1485900"/>
            <a:ext cx="5981700" cy="1314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 i="0">
                <a:solidFill>
                  <a:srgbClr val="C7A45D"/>
                </a:solidFill>
              </a:defRPr>
            </a:pPr>
            <a:r>
              <a:rPr sz="1425" b="1" i="0">
                <a:solidFill>
                  <a:srgbClr val="C7A45D"/>
                </a:solidFill>
              </a:rPr>
              <a:t>4C360 efficiency 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585AE-E957-4F67-994D-944F4944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43053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Delivery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438571-7479-48A4-87D6-4663A3D4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1465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Float consumed by facade, crane, MEP, weather, approvals, or vendor events.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47C523-D8D9-4950-9FE6-C3A44F22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291465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Live Project Control Twin recalculates health, CPI/SPI, EAC, float, and handover confidence.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6CF76A-7AE6-4C38-AA23-19A47038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0100"/>
            <a:ext cx="43053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Evidence gaps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8D645-F3AE-4417-AB30-B0D69E07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61010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Rejected proof blocks gates, weakens audit readiness, and slows handover.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55BC0C-2DFE-4E91-A9A4-F5EDD6E6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461010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Evidence Command links proof quality to inspections, stage gates, obligations, and owners.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F03B5-4D54-4AFD-80C5-4FCEA298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05550"/>
            <a:ext cx="43053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Vendor performance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700159-83A7-454E-9486-3DD27AD43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630555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Backward integration still needs objective package-level scorecards and escalation.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EEB024-872F-4670-AD5F-BA2600D9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630555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VendorIQ connects delivery, quality, evidence, cost, and repeat issue signals.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070F80-6E67-46D2-8B3F-7C789A0C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020050"/>
            <a:ext cx="43053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Handover trust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032A63-9887-4834-BAA9-7B3573F1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802005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Premium buyers feel defects, missing documents, and delayed move-in readiness.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A152EF-54DC-40F2-B7F8-D577594F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6200" y="8020050"/>
            <a:ext cx="59817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ResidentPortal + ProjectCommand turns handover readiness into a measurable confidence layer.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026C7B-295F-4CE4-9B7E-9A9F0AFC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Pain points are inferred from Sobha public model plus typical construction delivery control risks.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EA0D11-60C5-4CD3-9092-D08E20B7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119473504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4620193F-EED0-41A5-83E5-D5BBD459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FC1BC97C-002A-4017-B8EC-81A31EE6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45A315-A365-437B-8ECA-A08EFFDD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AA1F01-F66C-471E-ACAC-D0F29896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F919AD-9D70-49ED-8BAA-89734067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A91553-1543-496D-8ED9-846A472D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97EF0-F67D-438F-AAA3-6DA4ED60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4C360 answer: the Live Project Control Twin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7BEA33-C7CA-43F0-8B4E-D2892E509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BCEF4-DCD5-4113-A5C9-097353D6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02B7D-4FA2-4F38-A0FD-2443E3BE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37648"/>
            <a:ext cx="1698117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8A6EE9-5850-467D-8352-17CDFDBB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C7A45D"/>
                </a:solidFill>
              </a:defRPr>
            </a:pPr>
            <a:r>
              <a:rPr sz="1500" b="1" i="0">
                <a:solidFill>
                  <a:srgbClr val="C7A45D"/>
                </a:solidFill>
              </a:rPr>
              <a:t>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7AC361-9875-4AD3-8348-805A2D1B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517" y="4037648"/>
            <a:ext cx="1698117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1AFD56-533B-40A3-BCA4-5520F4F92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1719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Events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612452-D9EC-4A50-89FE-90B1D713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934" y="4037648"/>
            <a:ext cx="1698117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9BB25A-5606-49E5-9FA9-50414DBE8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Impact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41711A-3474-4B0D-8B34-7249D653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7351" y="4037648"/>
            <a:ext cx="1698117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F07E0C-6942-4A55-A455-4B7A4A7F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719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Decisions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BC050F-D88F-458E-9A5D-6BB62B57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9768" y="4037648"/>
            <a:ext cx="1698117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D489">
              <a:alpha val="13333"/>
            </a:srgbClr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D06651-7F75-4965-8749-D2463516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71950"/>
            <a:ext cx="13906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40D489"/>
                </a:solidFill>
              </a:defRPr>
            </a:pPr>
            <a:r>
              <a:rPr sz="1500" b="1" i="0">
                <a:solidFill>
                  <a:srgbClr val="40D489"/>
                </a:solidFill>
              </a:rPr>
              <a:t>Recovery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EAB79E-D399-4C50-997E-8B907FDE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74295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 i="0">
                <a:solidFill>
                  <a:srgbClr val="F4F7FB"/>
                </a:solidFill>
              </a:defRPr>
            </a:pPr>
            <a:r>
              <a:rPr sz="3750" b="1" i="0">
                <a:solidFill>
                  <a:srgbClr val="F4F7FB"/>
                </a:solidFill>
              </a:rPr>
              <a:t>Every event updates the same control state.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EDAF36-71E1-4802-B6A4-CB9DC892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34100"/>
            <a:ext cx="80772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0" i="0">
                <a:solidFill>
                  <a:srgbClr val="B9C7D9"/>
                </a:solidFill>
              </a:defRPr>
            </a:pPr>
            <a:r>
              <a:rPr sz="1950" b="0" i="0">
                <a:solidFill>
                  <a:srgbClr val="B9C7D9"/>
                </a:solidFill>
              </a:rPr>
              <a:t>Facade delay, authority approval, inspection rejection, variation, vendor issue, or recovery action should not live in separate reports. The twin makes the cascade visible and decision-ready.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DF98FE-5F0B-4CC5-AB6F-0D301AD0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6985" y="1487805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94A"/>
          </a:solidFill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3FC59B-8701-42D0-A57E-70DE86EE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16573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C7A45D"/>
                </a:solidFill>
              </a:defRPr>
            </a:pPr>
            <a:r>
              <a:rPr sz="1725" b="1" i="0">
                <a:solidFill>
                  <a:srgbClr val="C7A45D"/>
                </a:solidFill>
              </a:rPr>
              <a:t>Programme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32015A-C95C-4C86-BBCA-55128CDF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643" y="1487805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4CFFF6-E095-440B-A199-70023830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16573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C7A45D"/>
                </a:solidFill>
              </a:defRPr>
            </a:pPr>
            <a:r>
              <a:rPr sz="1725" b="1" i="0">
                <a:solidFill>
                  <a:srgbClr val="C7A45D"/>
                </a:solidFill>
              </a:rPr>
              <a:t>Cost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9D382F-ED99-4E8A-B670-3C371A9EF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6985" y="3547586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94A"/>
          </a:solidFill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5021F1-F6C8-43E2-9F59-F645BC45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7147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C7A45D"/>
                </a:solidFill>
              </a:defRPr>
            </a:pPr>
            <a:r>
              <a:rPr sz="1725" b="1" i="0">
                <a:solidFill>
                  <a:srgbClr val="C7A45D"/>
                </a:solidFill>
              </a:rPr>
              <a:t>Risk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8C5B8E-B5D2-4CEE-88E8-5B81B4CC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643" y="3547586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DB0BCE-06F9-4264-B643-30156E82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37147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C7A45D"/>
                </a:solidFill>
              </a:defRPr>
            </a:pPr>
            <a:r>
              <a:rPr sz="1725" b="1" i="0">
                <a:solidFill>
                  <a:srgbClr val="C7A45D"/>
                </a:solidFill>
              </a:rPr>
              <a:t>Vendors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91092B-A24D-4724-A661-6EFE26CF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6985" y="5607368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94A"/>
          </a:solidFill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70BCBB-A39C-4742-95B3-8C9D74A2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7721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18D3FF"/>
                </a:solidFill>
              </a:defRPr>
            </a:pPr>
            <a:r>
              <a:rPr sz="1725" b="1" i="0">
                <a:solidFill>
                  <a:srgbClr val="18D3FF"/>
                </a:solidFill>
              </a:rPr>
              <a:t>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85584A4-D04D-4031-863B-8B1EE0E5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643" y="5607368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81A01F-A619-43B6-906B-0243D352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57721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18D3FF"/>
                </a:solidFill>
              </a:defRPr>
            </a:pPr>
            <a:r>
              <a:rPr sz="1725" b="1" i="0">
                <a:solidFill>
                  <a:srgbClr val="18D3FF"/>
                </a:solidFill>
              </a:rPr>
              <a:t>Workforce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AFF5BD-C831-41B2-9E85-E4971798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6985" y="7667149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0294A"/>
          </a:solidFill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6F3223-3A6C-406E-8EFF-67405D1EF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78295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18D3FF"/>
                </a:solidFill>
              </a:defRPr>
            </a:pPr>
            <a:r>
              <a:rPr sz="1725" b="1" i="0">
                <a:solidFill>
                  <a:srgbClr val="18D3FF"/>
                </a:solidFill>
              </a:rPr>
              <a:t>Gates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3CE57C-142E-4C1D-ACDA-7143B438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3643" y="7667149"/>
            <a:ext cx="3584258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8460DCD-4AC4-4D1B-9615-C38FA6BFD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7829550"/>
            <a:ext cx="3238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 i="0">
                <a:solidFill>
                  <a:srgbClr val="18D3FF"/>
                </a:solidFill>
              </a:defRPr>
            </a:pPr>
            <a:r>
              <a:rPr sz="1725" b="1" i="0">
                <a:solidFill>
                  <a:srgbClr val="18D3FF"/>
                </a:solidFill>
              </a:rPr>
              <a:t>Handover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508144-3126-4C37-9FAF-A3C6F033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Product mapping: current 4C360 ProjectCommand live twin demo.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AC3B1CC-4AC5-4D95-8C19-C458645F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111935327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AE4CC32E-6236-4064-B0D2-0E224226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C8C4828B-0625-4954-8EA7-3AEF26E23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4AA3D2-779A-4690-ADE3-7B0DDDEF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A307C-3506-4452-9A24-0C369F0C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EBE82-0125-4EC0-A62D-91B4742EF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30C72F-4507-458B-9EB2-EAA09CB04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D8C0A-A957-4DBB-96EE-79A57BEA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Demo story: one event changes the whole control picture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E44B8-47CF-47DB-8ACB-190256A0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F5C06-9606-4966-A557-D947535E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A353F3-F66F-43C4-9888-072EA007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95750"/>
            <a:ext cx="69151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125" b="1" i="0">
                <a:solidFill>
                  <a:srgbClr val="F4F7FB"/>
                </a:solidFill>
              </a:defRPr>
            </a:pPr>
            <a:r>
              <a:rPr sz="4125" b="1" i="0">
                <a:solidFill>
                  <a:srgbClr val="F4F7FB"/>
                </a:solidFill>
              </a:rPr>
              <a:t>Run this live in 7 minutes.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3838F-D9C7-487F-A05D-E7368003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14900"/>
            <a:ext cx="65913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 i="0">
                <a:solidFill>
                  <a:srgbClr val="B9C7D9"/>
                </a:solidFill>
              </a:defRPr>
            </a:pPr>
            <a:r>
              <a:rPr sz="2025" b="0" i="0">
                <a:solidFill>
                  <a:srgbClr val="B9C7D9"/>
                </a:solidFill>
              </a:rPr>
              <a:t>The story is simple: AI reads project material, builds the control baseline, then a real project event creates a cascade that leadership can act 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C0F61-CB9F-4B1A-9625-39CB0239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22658"/>
            <a:ext cx="6914198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33253-2E05-4F1B-A32A-0097FA86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210300"/>
            <a:ext cx="64579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18D3FF"/>
                </a:solidFill>
              </a:defRPr>
            </a:pPr>
            <a:r>
              <a:rPr sz="1875" b="1" i="0">
                <a:solidFill>
                  <a:srgbClr val="18D3FF"/>
                </a:solidFill>
              </a:rPr>
              <a:t>Recommended event sequence: facade delay -&gt; approval delay -&gt; evidence rejection -&gt; recovery action approved.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1CBDA4-CDF2-40F5-A381-698E78F5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398" y="38671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4118"/>
            </a:srgbClr>
          </a:solidFill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862242-D2A7-4D03-AEA7-DD22B471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19550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8D3FF"/>
                </a:solidFill>
              </a:defRPr>
            </a:pPr>
            <a:r>
              <a:rPr sz="1800" b="1" i="0">
                <a:solidFill>
                  <a:srgbClr val="18D3FF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0D9402-A752-4B78-9B20-7EF38918F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81450"/>
            <a:ext cx="8629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4F7FB"/>
                </a:solidFill>
              </a:defRPr>
            </a:pPr>
            <a:r>
              <a:rPr sz="1950" b="1" i="0">
                <a:solidFill>
                  <a:srgbClr val="F4F7FB"/>
                </a:solidFill>
              </a:rPr>
              <a:t>AI reads LOA / project summary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0AC4DB-A72E-4C00-A4E3-DDDFB2A3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398" y="45529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4118"/>
            </a:srgbClr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2B1903-445D-49EF-819B-4C588F01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05350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8D3FF"/>
                </a:solidFill>
              </a:defRPr>
            </a:pPr>
            <a:r>
              <a:rPr sz="1800" b="1" i="0">
                <a:solidFill>
                  <a:srgbClr val="18D3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E63F5E-5165-4384-9884-F99816C3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8629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4F7FB"/>
                </a:solidFill>
              </a:defRPr>
            </a:pPr>
            <a:r>
              <a:rPr sz="1950" b="1" i="0">
                <a:solidFill>
                  <a:srgbClr val="F4F7FB"/>
                </a:solidFill>
              </a:rPr>
              <a:t>Baseline created: programme, cost, gates, vendors, risks,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116E2D-FA78-4039-B7E5-44BE214E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398" y="52578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A66">
              <a:alpha val="18824"/>
            </a:srgbClr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4E214D-580D-4535-AA8C-DA905354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410200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FF5A66"/>
                </a:solidFill>
              </a:defRPr>
            </a:pPr>
            <a:r>
              <a:rPr sz="1800" b="1" i="0">
                <a:solidFill>
                  <a:srgbClr val="FF5A66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B23CB-9959-40A5-AC0B-57BF207E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72100"/>
            <a:ext cx="8629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4F7FB"/>
                </a:solidFill>
              </a:defRPr>
            </a:pPr>
            <a:r>
              <a:rPr sz="1950" b="1" i="0">
                <a:solidFill>
                  <a:srgbClr val="F4F7FB"/>
                </a:solidFill>
              </a:rPr>
              <a:t>Trigger facade procurement delay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393C04-38F4-4176-9A17-6D16CC1D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398" y="59436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4118"/>
            </a:srgbClr>
          </a:solidFill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91D97B-723F-4A8A-8ED1-A9B0F129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6096000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8D3FF"/>
                </a:solidFill>
              </a:defRPr>
            </a:pPr>
            <a:r>
              <a:rPr sz="1800" b="1" i="0">
                <a:solidFill>
                  <a:srgbClr val="18D3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36D1F1-CD4F-4C02-8D8C-D8CC58CA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076950"/>
            <a:ext cx="8629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4F7FB"/>
                </a:solidFill>
              </a:defRPr>
            </a:pPr>
            <a:r>
              <a:rPr sz="1950" b="1" i="0">
                <a:solidFill>
                  <a:srgbClr val="F4F7FB"/>
                </a:solidFill>
              </a:rPr>
              <a:t>Twin recalculates health, SPI, float, EAC, evidence, confidence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07D4B2-ECD1-4049-B93D-7446F319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398" y="66484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4118"/>
            </a:srgbClr>
          </a:solidFill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247CEC-6B8B-455A-A58A-71BDEC31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6800850"/>
            <a:ext cx="3048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8D3FF"/>
                </a:solidFill>
              </a:defRPr>
            </a:pPr>
            <a:r>
              <a:rPr sz="1800" b="1" i="0">
                <a:solidFill>
                  <a:srgbClr val="18D3FF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11950F-87E4-4713-A19C-77EBF71B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762750"/>
            <a:ext cx="86296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 i="0">
                <a:solidFill>
                  <a:srgbClr val="F4F7FB"/>
                </a:solidFill>
              </a:defRPr>
            </a:pPr>
            <a:r>
              <a:rPr sz="1950" b="1" i="0">
                <a:solidFill>
                  <a:srgbClr val="F4F7FB"/>
                </a:solidFill>
              </a:rPr>
              <a:t>Copilot recommends manager action and recovery path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11C6BA-83C9-4316-914C-4E74A834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Demo source: ProjectCommand overview at /projectcommand/overview.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00DF07-D0E3-46E3-9569-60568E9E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177565282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074272B4-40B2-4437-A6EC-4C5A2F2B6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549C19F1-0782-4CB5-B921-D6CF1685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CB85DC-6BCF-4DA8-AE6D-CA217C40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4C91F-033B-4CC6-B977-3E865E01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FEA2F9-1757-4F55-9A43-2B4CB5C1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FA013-707A-4F82-80DF-3DDC988C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5591C-B38B-4C8C-A9BF-3F0CF2B5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Efficiency solutions that hit real pain points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19A7A-5919-42EB-B3AA-E39F7B75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C27D3-3A32-4164-9824-78200FAA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144004-7381-4C12-A9C6-483FF53B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7805"/>
            <a:ext cx="8210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294A"/>
          </a:solidFill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CA044-AD2F-477B-B4E9-21ECAE8B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14500"/>
            <a:ext cx="7677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C7A45D"/>
                </a:solidFill>
              </a:defRPr>
            </a:pPr>
            <a:r>
              <a:rPr sz="2250" b="1" i="0">
                <a:solidFill>
                  <a:srgbClr val="C7A45D"/>
                </a:solidFill>
              </a:rPr>
              <a:t>QA Evidence Command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025F5-816A-49C9-B20D-453046BEB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 i="0">
                <a:solidFill>
                  <a:srgbClr val="B9C7D9"/>
                </a:solidFill>
              </a:defRPr>
            </a:pPr>
            <a:r>
              <a:rPr sz="1725" b="0" i="0">
                <a:solidFill>
                  <a:srgbClr val="B9C7D9"/>
                </a:solidFill>
              </a:rPr>
              <a:t>Reject weak evidence early; tie proof to inspection, gate, and handover readiness.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F595E4-F667-425A-9F38-00B53DC6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7677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6C8CD-EE03-47DE-B51C-956F1D12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Less rework, fewer late audit gaps.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1B0D4-3A19-4851-95B8-900C84B1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87805"/>
            <a:ext cx="8210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B13998-999D-43FB-AE7A-8DE25745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714500"/>
            <a:ext cx="7677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C7A45D"/>
                </a:solidFill>
              </a:defRPr>
            </a:pPr>
            <a:r>
              <a:rPr sz="2250" b="1" i="0">
                <a:solidFill>
                  <a:srgbClr val="C7A45D"/>
                </a:solidFill>
              </a:rPr>
              <a:t>Approval Gate Readiness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39DC23-892C-4EBA-A336-E7C6F33A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2098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 i="0">
                <a:solidFill>
                  <a:srgbClr val="B9C7D9"/>
                </a:solidFill>
              </a:defRPr>
            </a:pPr>
            <a:r>
              <a:rPr sz="1725" b="0" i="0">
                <a:solidFill>
                  <a:srgbClr val="B9C7D9"/>
                </a:solidFill>
              </a:rPr>
              <a:t>Track authority and compliance dependencies before commissioning pressure.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25339F-984D-4DC8-A9D2-445371158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28900"/>
            <a:ext cx="7677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5600EB-A96E-4453-93FA-9143E2C2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Earlier blocker visibility and cleaner go/no-go reviews.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9CE13C-B6A1-43AA-AA60-4391067D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45468"/>
            <a:ext cx="8210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0294A"/>
          </a:solidFill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E5CA7-7F17-4779-9116-9D094971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67400"/>
            <a:ext cx="7677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8D3FF"/>
                </a:solidFill>
              </a:defRPr>
            </a:pPr>
            <a:r>
              <a:rPr sz="2250" b="1" i="0">
                <a:solidFill>
                  <a:srgbClr val="18D3FF"/>
                </a:solidFill>
              </a:rPr>
              <a:t>Backward Integration Control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A01D36-2FE5-4251-9ECE-66FFC565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627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 i="0">
                <a:solidFill>
                  <a:srgbClr val="B9C7D9"/>
                </a:solidFill>
              </a:defRPr>
            </a:pPr>
            <a:r>
              <a:rPr sz="1725" b="0" i="0">
                <a:solidFill>
                  <a:srgbClr val="B9C7D9"/>
                </a:solidFill>
              </a:rPr>
              <a:t>Score internal/external package delivery by quality, evidence, cost, and schedule.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8F43BD-8F2D-4EB9-92BE-176EC962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781800"/>
            <a:ext cx="7677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EA531B-33B6-4240-8643-71B849B8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95325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Objective escalation before vendor/package drift compounds.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EA327-78BA-4159-AD06-87C66036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45468"/>
            <a:ext cx="82105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CA3D06-E321-4798-8E37-D20DFDC5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867400"/>
            <a:ext cx="7677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 i="0">
                <a:solidFill>
                  <a:srgbClr val="18D3FF"/>
                </a:solidFill>
              </a:defRPr>
            </a:pPr>
            <a:r>
              <a:rPr sz="2250" b="1" i="0">
                <a:solidFill>
                  <a:srgbClr val="18D3FF"/>
                </a:solidFill>
              </a:rPr>
              <a:t>Handover Confidence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070AF4-D06C-428D-B8AD-CCA4CA90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36270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0" i="0">
                <a:solidFill>
                  <a:srgbClr val="B9C7D9"/>
                </a:solidFill>
              </a:defRPr>
            </a:pPr>
            <a:r>
              <a:rPr sz="1725" b="0" i="0">
                <a:solidFill>
                  <a:srgbClr val="B9C7D9"/>
                </a:solidFill>
              </a:rPr>
              <a:t>Blend snag closure, documents, warranty packs, resident readiness, and project gates.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8F49C8-B2B8-4FB4-9DC4-687E9020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781800"/>
            <a:ext cx="7677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165FFA-5817-4130-BE7E-EAF066D6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6953250"/>
            <a:ext cx="76771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Premium buyer trust protected at move-in.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8BFBCC-B192-4145-AA8F-D2D14FFA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Efficiency opportunities are framed as pilot measurement targets, not guaranteed ROI.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80BC8B-D606-4C01-A64B-A1A0F21C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141564134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EC0BDFB3-4518-43B8-BC7D-6E6F02C7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75B05E13-3165-475A-968F-34D1B09C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C5D5E1-FE54-4C05-A669-F78EA902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00DD1B-D13D-4406-BE27-B5C9E3D9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FCE0CA-0E40-4A42-8F41-56DB79F7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426EA-DE3F-4E7C-B0B5-85C102D2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A39FBA-CE64-417A-A6AC-C794F281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Pilot proposal: one live tower or masterplan, 6-8 weeks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E93BB-8713-4080-A996-624B0129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17C8A-F11C-474D-9175-F9B63D71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5C0A3-7D27-4A66-88FC-9F16D058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6800850" cy="129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 i="0">
                <a:solidFill>
                  <a:srgbClr val="F4F7FB"/>
                </a:solidFill>
              </a:defRPr>
            </a:pPr>
            <a:r>
              <a:rPr sz="4200" b="1" i="0">
                <a:solidFill>
                  <a:srgbClr val="F4F7FB"/>
                </a:solidFill>
              </a:rPr>
              <a:t>The pilot should prove control, not boil the ocean.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F835A-2A92-44FF-881B-9B68B3CB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71437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 i="0">
                <a:solidFill>
                  <a:srgbClr val="B9C7D9"/>
                </a:solidFill>
              </a:defRPr>
            </a:pPr>
            <a:r>
              <a:rPr sz="2025" b="0" i="0">
                <a:solidFill>
                  <a:srgbClr val="B9C7D9"/>
                </a:solidFill>
              </a:rPr>
              <a:t>Select one active tower or masterplan workstream where programme pressure, QA evidence, approvals, vendor packages, and handover readiness all matter.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9010AC-14E5-4D08-AC61-A539C2C4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85900"/>
            <a:ext cx="407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Week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968D2-A438-4120-AD08-77A4E831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47850"/>
            <a:ext cx="4076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Baseline setup from LOA, BOQ/project summary, milestone, vendor, risk, evidence inputs.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E6AF9-CCB1-4870-8A5E-9D65643D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1485900"/>
            <a:ext cx="407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Weeks 2-3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AB3545-8A91-4AD4-9C27-5ABD4C8A0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1847850"/>
            <a:ext cx="4076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Connect live project events, gates, evidence rules, and manager action queue.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F89E25-F581-4700-BAFF-2F9EE380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48150"/>
            <a:ext cx="407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Weeks 4-5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EB0704-9586-4588-9238-226AD068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91050"/>
            <a:ext cx="4076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Run weekly executive twin review: what changed, exposure, confidence, decisions.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86137D-EA56-40E2-A67D-0085C3E9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248150"/>
            <a:ext cx="407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Weeks 6-8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985FF6-1649-4D54-8878-3B340D97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591050"/>
            <a:ext cx="4076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Measure outcomes, refine playbook, decide expansion into VendorIQ, ResidentPortal, ESG.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0D695-07CF-466A-ADF8-40AEBE6B2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991350"/>
            <a:ext cx="407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8D3FF"/>
                </a:solidFill>
              </a:defRPr>
            </a:pPr>
            <a:r>
              <a:rPr sz="1800" b="1" i="0">
                <a:solidFill>
                  <a:srgbClr val="18D3FF"/>
                </a:solidFill>
              </a:rPr>
              <a:t>Inputs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2A6C07-0920-4F48-AEF5-1FA9E332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7353300"/>
            <a:ext cx="4076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Project summary, schedule extracts, cost baseline, QA checklist, vendor list, approval tracker.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24810D-88B4-4868-B0CD-94C99687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6991350"/>
            <a:ext cx="4076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18D3FF"/>
                </a:solidFill>
              </a:defRPr>
            </a:pPr>
            <a:r>
              <a:rPr sz="1800" b="1" i="0">
                <a:solidFill>
                  <a:srgbClr val="18D3FF"/>
                </a:solidFill>
              </a:rPr>
              <a:t>Outputs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3AE6E3-3E41-4C7D-A88B-F0631E740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7353300"/>
            <a:ext cx="40767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Live twin, event feed, control exceptions, decisions, handover confidence, exec readout.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2EF443-837C-4C12-8508-2D5CCF6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Pilot scope proposed by 4C360; to be validated with Sobha stakeholders.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D333AA-0105-4BD3-A2D5-294FFE91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202606759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52E60E10-D57D-4E6F-B237-99ADF58E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F730A628-6657-4E7C-A887-69DEE343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48743-67E8-4CF6-B261-A5B249B8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BDC5C8-474D-4F27-BE46-0AB843BA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F526E9-B872-4899-A14F-32143CC0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7B75C-60BD-4D85-B6CC-8FD6B95A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DFE537-63B2-48C3-90CA-8452F824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Success metrics: measure confidence, not software usage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C53FB-A17D-445E-B179-DBE53021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1434AB-B44F-46F6-A664-1174A5D7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39CC0-0552-4416-9121-297495BE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6934200" cy="129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200" b="1" i="0">
                <a:solidFill>
                  <a:srgbClr val="F4F7FB"/>
                </a:solidFill>
              </a:defRPr>
            </a:pPr>
            <a:r>
              <a:rPr sz="4200" b="1" i="0">
                <a:solidFill>
                  <a:srgbClr val="F4F7FB"/>
                </a:solidFill>
              </a:rPr>
              <a:t>The pilot scorecard should read like an operating review.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3F75D-A3FE-4752-BB4B-A36C3E4F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72009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 i="0">
                <a:solidFill>
                  <a:srgbClr val="B9C7D9"/>
                </a:solidFill>
              </a:defRPr>
            </a:pPr>
            <a:r>
              <a:rPr sz="2025" b="0" i="0">
                <a:solidFill>
                  <a:srgbClr val="B9C7D9"/>
                </a:solidFill>
              </a:rPr>
              <a:t>Avoid vanity AI metrics. Track whether Sobha sees risks earlier, closes evidence gaps faster, protects float, and creates cleaner executive decisions.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85A21-BAF1-4938-A848-651680F8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19" y="3092768"/>
            <a:ext cx="7736681" cy="845820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F08F4-D3CB-44D2-85B4-EE133886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38500"/>
            <a:ext cx="7315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Float protected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C13740-D4C9-40EE-9D65-D4A39676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562350"/>
            <a:ext cx="7315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Days of schedule exposure identified and recovered.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400EF4-B582-48FC-9406-46B92E517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19" y="4100513"/>
            <a:ext cx="7736681" cy="845820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C59C8-C7C0-40EB-A487-4975F0FA4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248150"/>
            <a:ext cx="7315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Evidence gaps closed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EC512-F00A-4068-B2B8-7F7477C6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72000"/>
            <a:ext cx="7315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Rejected or missing proof reduced before gate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064B7-0711-4193-942C-F425D7C7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19" y="5108258"/>
            <a:ext cx="7736681" cy="845820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7E8E68-415F-4BEB-A389-88415741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5257800"/>
            <a:ext cx="7315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Approval blockers surfaced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55C83-7E24-401C-8D4B-054698D0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5581650"/>
            <a:ext cx="7315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Authority dependencies flagged earlier.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ED6EDC-C6BA-4192-8295-2462D304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19" y="6116002"/>
            <a:ext cx="7736681" cy="845820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6F2848-BD05-4F6C-8C1A-A0122A31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6267450"/>
            <a:ext cx="7315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Vendor issue cycle time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D72E8C-56F1-49FE-A9FE-D0EAE068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6572250"/>
            <a:ext cx="7315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Package issues escalated with evidence and owner.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EF0E78-D86B-4104-90C5-3EDB3988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1219" y="7123747"/>
            <a:ext cx="7736681" cy="845820"/>
          </a:xfrm>
          <a:prstGeom xmlns:a="http://schemas.openxmlformats.org/drawingml/2006/main" prst="roundRect">
            <a:avLst>
              <a:gd name="adj" fmla="val 9009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83F5C3-66D4-49E3-8E87-133F885C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7277100"/>
            <a:ext cx="7315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Handover confidence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3F4A83-CB7E-4357-A439-918104C99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7581900"/>
            <a:ext cx="7315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Readiness score improves before buyer-facing milestones.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177F17-7783-46DA-84DC-51E896C6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Metrics are pilot measurement targets, not claimed achieved outcomes.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49D48C-29B5-40A3-98D9-B34175F6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30276620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g">
            <a:extLst xmlns:a="http://schemas.openxmlformats.org/drawingml/2006/main">
              <a:ext uri="{FF2B5EF4-FFF2-40B4-BE49-F238E27FC236}">
                <a16:creationId xmlns:a16="http://schemas.microsoft.com/office/drawing/2014/main" id="{06A664D7-84E4-42D6-B75A-E2BCBCF4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top-field">
            <a:extLst xmlns:a="http://schemas.openxmlformats.org/drawingml/2006/main">
              <a:ext uri="{FF2B5EF4-FFF2-40B4-BE49-F238E27FC236}">
                <a16:creationId xmlns:a16="http://schemas.microsoft.com/office/drawing/2014/main" id="{C04D28C2-3C40-4938-8201-173BEB86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1A2E"/>
          </a:solidFill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996707-40CD-4C19-9249-6720ADF4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"/>
            <a:ext cx="169497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F2DF23-7FB3-4724-9B12-3E7B5BE1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7200"/>
            <a:ext cx="13906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Sobha Realty pursuit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681FC-34E8-4DB5-BD33-68EF8AAF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374" y="381000"/>
            <a:ext cx="1662494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D3FF">
              <a:alpha val="13333"/>
            </a:srgbClr>
          </a:solidFill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3CC0C-1E4F-45B5-B76B-F8CCD6CC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57200"/>
            <a:ext cx="1352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18D3FF"/>
                </a:solidFill>
              </a:defRPr>
            </a:pPr>
            <a:r>
              <a:rPr sz="1275" b="1" i="0">
                <a:solidFill>
                  <a:srgbClr val="18D3FF"/>
                </a:solidFill>
              </a:rPr>
              <a:t>Executive pitch pack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C30ED0-2137-4DDE-99A2-B3ED5147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19150"/>
            <a:ext cx="138303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 i="0">
                <a:solidFill>
                  <a:srgbClr val="F4F7FB"/>
                </a:solidFill>
              </a:defRPr>
            </a:pPr>
            <a:r>
              <a:rPr sz="3300" b="1" i="0">
                <a:solidFill>
                  <a:srgbClr val="F4F7FB"/>
                </a:solidFill>
              </a:rPr>
              <a:t>Executive ask: pick the project where control matters most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C13603-50FD-44D1-A417-A4B6514B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647700"/>
            <a:ext cx="285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 i="0">
                <a:solidFill>
                  <a:srgbClr val="F4F7FB"/>
                </a:solidFill>
              </a:defRPr>
            </a:pPr>
            <a:r>
              <a:rPr sz="1500" b="1" i="0">
                <a:solidFill>
                  <a:srgbClr val="F4F7FB"/>
                </a:solidFill>
              </a:rPr>
              <a:t>DevelopmentX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B076C6-80C9-42EB-B1D0-197FF3E6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0" y="914400"/>
            <a:ext cx="2857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Powered by 4C360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D3720C-F0E0-47B8-9544-31881120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8115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 i="0">
                <a:solidFill>
                  <a:srgbClr val="C7A45D"/>
                </a:solidFill>
              </a:defRPr>
            </a:pPr>
            <a:r>
              <a:rPr sz="2175" b="1" i="0">
                <a:solidFill>
                  <a:srgbClr val="C7A45D"/>
                </a:solidFill>
              </a:rPr>
              <a:t>Recommended next meeting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1D37AE-374D-4F6D-A157-21901DA1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6934200" cy="2057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75" b="1" i="0">
                <a:solidFill>
                  <a:srgbClr val="F4F7FB"/>
                </a:solidFill>
              </a:defRPr>
            </a:pPr>
            <a:r>
              <a:rPr sz="3375" b="1" i="0">
                <a:solidFill>
                  <a:srgbClr val="F4F7FB"/>
                </a:solidFill>
              </a:rPr>
              <a:t>A 60-minute discovery workshop with development, project controls, QA/QC, commercial, handover, and digital leadership.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B3541-F9C3-4A34-84B5-C8C70D2A8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686550"/>
            <a:ext cx="68770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0" i="0">
                <a:solidFill>
                  <a:srgbClr val="B9C7D9"/>
                </a:solidFill>
              </a:defRPr>
            </a:pPr>
            <a:r>
              <a:rPr sz="2025" b="0" i="0">
                <a:solidFill>
                  <a:srgbClr val="B9C7D9"/>
                </a:solidFill>
              </a:rPr>
              <a:t>Goal: select one pilot candidate and agree which operating signals matter most.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96EBEB-F19E-449F-86E3-7D4CE9A0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957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4118"/>
            </a:srgbClr>
          </a:solidFill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A0CC5-9650-4D83-9EA6-C4379B3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248150"/>
            <a:ext cx="342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E65D3C-8F29-48DD-A374-C2679805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095750"/>
            <a:ext cx="7391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F4F7FB"/>
                </a:solidFill>
              </a:defRPr>
            </a:pPr>
            <a:r>
              <a:rPr sz="1875" b="1" i="0">
                <a:solidFill>
                  <a:srgbClr val="F4F7FB"/>
                </a:solidFill>
              </a:rPr>
              <a:t>Confirm the business question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3D46F8-3632-4448-AAD9-6CE8882F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38650"/>
            <a:ext cx="7391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Where is delivery confidence most valuable this quarter?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79D17F-33E2-415F-97E4-355F20814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8768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4118"/>
            </a:srgbClr>
          </a:solidFill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9E4604-A6F4-4A19-81C9-528A946F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029200"/>
            <a:ext cx="342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A4D59C-6ED5-40C6-9AE9-814952B6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57750"/>
            <a:ext cx="7391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F4F7FB"/>
                </a:solidFill>
              </a:defRPr>
            </a:pPr>
            <a:r>
              <a:rPr sz="1875" b="1" i="0">
                <a:solidFill>
                  <a:srgbClr val="F4F7FB"/>
                </a:solidFill>
              </a:rPr>
              <a:t>Select pilot candidate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9E74A9-F67D-48C4-80CF-E5D506FD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200650"/>
            <a:ext cx="7391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One tower, stage gate, handover stream, or package cluster.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22E255-5D50-4068-8A43-89B0C6CF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6388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4118"/>
            </a:srgbClr>
          </a:solidFill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9F4A33-B30A-4FA8-A0A7-D77A5D10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791200"/>
            <a:ext cx="342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90A79-0795-4553-86DD-5FA02EC2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638800"/>
            <a:ext cx="7391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F4F7FB"/>
                </a:solidFill>
              </a:defRPr>
            </a:pPr>
            <a:r>
              <a:rPr sz="1875" b="1" i="0">
                <a:solidFill>
                  <a:srgbClr val="F4F7FB"/>
                </a:solidFill>
              </a:rPr>
              <a:t>Agree evidence inputs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1B206B-7A7E-4283-B432-F5E1E496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981700"/>
            <a:ext cx="7391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Schedule, cost baseline, vendors, gates, approvals, QA evidence.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475CF5-086B-473A-9760-8AA7A8E6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4198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4118"/>
            </a:srgbClr>
          </a:solidFill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3244F-35B3-4AAF-B015-DF312AD9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572250"/>
            <a:ext cx="3429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 i="0">
                <a:solidFill>
                  <a:srgbClr val="C7A45D"/>
                </a:solidFill>
              </a:defRPr>
            </a:pPr>
            <a:r>
              <a:rPr sz="1800" b="1" i="0">
                <a:solidFill>
                  <a:srgbClr val="C7A45D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603F4E-23FF-47DA-9101-9704A328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00800"/>
            <a:ext cx="7391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F4F7FB"/>
                </a:solidFill>
              </a:defRPr>
            </a:pPr>
            <a:r>
              <a:rPr sz="1875" b="1" i="0">
                <a:solidFill>
                  <a:srgbClr val="F4F7FB"/>
                </a:solidFill>
              </a:rPr>
              <a:t>Run live twin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836C31-BB98-48EF-99E6-ED63636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743700"/>
            <a:ext cx="7391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0" i="0">
                <a:solidFill>
                  <a:srgbClr val="B9C7D9"/>
                </a:solidFill>
              </a:defRPr>
            </a:pPr>
            <a:r>
              <a:rPr sz="1500" b="0" i="0">
                <a:solidFill>
                  <a:srgbClr val="B9C7D9"/>
                </a:solidFill>
              </a:rPr>
              <a:t>What changed, why it matters, what decision recovers confidence.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1F720A-000B-40A6-BC77-CE3F2B1A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53600"/>
            <a:ext cx="1325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Executive CTA proposed by 4C360.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38F985-23A4-4672-872D-AEEFE1FD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58900" y="9753600"/>
            <a:ext cx="3429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 i="0">
                <a:solidFill>
                  <a:srgbClr val="6F86A3"/>
                </a:solidFill>
              </a:defRPr>
            </a:pPr>
            <a:r>
              <a:rPr sz="1050" b="0" i="0">
                <a:solidFill>
                  <a:srgbClr val="6F86A3"/>
                </a:solidFill>
              </a:rPr>
              <a:t>4C360 confidential discussion draft</a:t>
            </a:r>
          </a:p>
        </p:txBody>
      </p:sp>
    </p:spTree>
    <p:extLst>
      <p:ext uri="{BB962C8B-B14F-4D97-AF65-F5344CB8AC3E}">
        <p14:creationId xmlns:p14="http://schemas.microsoft.com/office/powerpoint/2010/main" val="14764099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2026-05-17T23:25:51.0200000Z</dcterms:created>
  <dcterms:modified xsi:type="dcterms:W3CDTF">2026-05-17T23:25:51.0200000Z</dcterms:modified>
</coreProperties>
</file>