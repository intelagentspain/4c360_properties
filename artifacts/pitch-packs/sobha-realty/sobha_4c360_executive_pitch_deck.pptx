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594177f274050" /><Relationship Type="http://schemas.openxmlformats.org/officeDocument/2006/relationships/extended-properties" Target="/docProps/app.xml" Id="R0d762a952db54077" /><Relationship Type="http://schemas.openxmlformats.org/officeDocument/2006/relationships/officeDocument" Target="/ppt/presentation.xml" Id="Rb158588c9a69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0252cfb524f92"/>
  </p:sldMasterIdLst>
  <p:notesMasterIdLst>
    <p:notesMasterId xmlns:r="http://schemas.openxmlformats.org/officeDocument/2006/relationships" r:id="Raf86d34b6db64676"/>
  </p:notesMasterIdLst>
  <p:sldIdLst>
    <p:sldId xmlns:r="http://schemas.openxmlformats.org/officeDocument/2006/relationships" id="256" r:id="R00eef52fc2334716"/>
    <p:sldId xmlns:r="http://schemas.openxmlformats.org/officeDocument/2006/relationships" id="257" r:id="R9e1427bea3d64a0c"/>
    <p:sldId xmlns:r="http://schemas.openxmlformats.org/officeDocument/2006/relationships" id="258" r:id="R2bd4e380caaa431f"/>
    <p:sldId xmlns:r="http://schemas.openxmlformats.org/officeDocument/2006/relationships" id="259" r:id="Rdb388a8745e743d3"/>
    <p:sldId xmlns:r="http://schemas.openxmlformats.org/officeDocument/2006/relationships" id="260" r:id="Rc88424461bcd4fd8"/>
    <p:sldId xmlns:r="http://schemas.openxmlformats.org/officeDocument/2006/relationships" id="261" r:id="R9521932465e64ff7"/>
    <p:sldId xmlns:r="http://schemas.openxmlformats.org/officeDocument/2006/relationships" id="262" r:id="R5f743f1d36cc499c"/>
    <p:sldId xmlns:r="http://schemas.openxmlformats.org/officeDocument/2006/relationships" id="263" r:id="R2a1630f04a4e4146"/>
    <p:sldId xmlns:r="http://schemas.openxmlformats.org/officeDocument/2006/relationships" id="264" r:id="R86b2743495fc47f1"/>
    <p:sldId xmlns:r="http://schemas.openxmlformats.org/officeDocument/2006/relationships" id="265" r:id="Rded2fa7403c54f3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0252cfb524f92" /><Relationship Type="http://schemas.openxmlformats.org/officeDocument/2006/relationships/theme" Target="/ppt/theme/theme1.xml" Id="R4e9700b139a94278" /><Relationship Type="http://schemas.openxmlformats.org/officeDocument/2006/relationships/notesMaster" Target="/ppt/notesMasters/notesMaster1.xml" Id="Raf86d34b6db64676" /><Relationship Type="http://schemas.openxmlformats.org/officeDocument/2006/relationships/presProps" Target="/ppt/presProps.xml" Id="Rf43896168a2b495f" /><Relationship Type="http://schemas.openxmlformats.org/officeDocument/2006/relationships/viewProps" Target="/ppt/viewProps.xml" Id="R0e5fc01e654c4159" /><Relationship Type="http://schemas.openxmlformats.org/officeDocument/2006/relationships/tableStyles" Target="/ppt/tableStyles.xml" Id="Readd17b8bed34498" /><Relationship Type="http://schemas.openxmlformats.org/officeDocument/2006/relationships/slide" Target="/ppt/slides/slide1.xml" Id="R00eef52fc2334716" /><Relationship Type="http://schemas.openxmlformats.org/officeDocument/2006/relationships/slide" Target="/ppt/slides/slide2.xml" Id="R9e1427bea3d64a0c" /><Relationship Type="http://schemas.openxmlformats.org/officeDocument/2006/relationships/slide" Target="/ppt/slides/slide3.xml" Id="R2bd4e380caaa431f" /><Relationship Type="http://schemas.openxmlformats.org/officeDocument/2006/relationships/slide" Target="/ppt/slides/slide4.xml" Id="Rdb388a8745e743d3" /><Relationship Type="http://schemas.openxmlformats.org/officeDocument/2006/relationships/slide" Target="/ppt/slides/slide5.xml" Id="Rc88424461bcd4fd8" /><Relationship Type="http://schemas.openxmlformats.org/officeDocument/2006/relationships/slide" Target="/ppt/slides/slide6.xml" Id="R9521932465e64ff7" /><Relationship Type="http://schemas.openxmlformats.org/officeDocument/2006/relationships/slide" Target="/ppt/slides/slide7.xml" Id="R5f743f1d36cc499c" /><Relationship Type="http://schemas.openxmlformats.org/officeDocument/2006/relationships/slide" Target="/ppt/slides/slide8.xml" Id="R2a1630f04a4e4146" /><Relationship Type="http://schemas.openxmlformats.org/officeDocument/2006/relationships/slide" Target="/ppt/slides/slide9.xml" Id="R86b2743495fc47f1" /><Relationship Type="http://schemas.openxmlformats.org/officeDocument/2006/relationships/slide" Target="/ppt/slides/slide10.xml" Id="Rded2fa7403c5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d61cd82b5f0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e141170194fdb" /><Relationship Type="http://schemas.openxmlformats.org/officeDocument/2006/relationships/notesMaster" Target="/ppt/notesMasters/notesMaster1.xml" Id="R0502a92ac43f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35e780814464f" /><Relationship Type="http://schemas.openxmlformats.org/officeDocument/2006/relationships/notesMaster" Target="/ppt/notesMasters/notesMaster1.xml" Id="Rbcc1181f41214f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462859e9c4c95" /><Relationship Type="http://schemas.openxmlformats.org/officeDocument/2006/relationships/notesMaster" Target="/ppt/notesMasters/notesMaster1.xml" Id="R336cb9ade5b7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c32a9dde94575" /><Relationship Type="http://schemas.openxmlformats.org/officeDocument/2006/relationships/notesMaster" Target="/ppt/notesMasters/notesMaster1.xml" Id="Radff0a9b979e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a9649ea0ef48b7" /><Relationship Type="http://schemas.openxmlformats.org/officeDocument/2006/relationships/notesMaster" Target="/ppt/notesMasters/notesMaster1.xml" Id="R1bc1581059f348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bba0cee0684648" /><Relationship Type="http://schemas.openxmlformats.org/officeDocument/2006/relationships/notesMaster" Target="/ppt/notesMasters/notesMaster1.xml" Id="Rf4a494efc2c443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0e79536d954929" /><Relationship Type="http://schemas.openxmlformats.org/officeDocument/2006/relationships/notesMaster" Target="/ppt/notesMasters/notesMaster1.xml" Id="Re92c883150e7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7c121b23de4351" /><Relationship Type="http://schemas.openxmlformats.org/officeDocument/2006/relationships/notesMaster" Target="/ppt/notesMasters/notesMaster1.xml" Id="R33844a02bcfa41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8f960978824216" /><Relationship Type="http://schemas.openxmlformats.org/officeDocument/2006/relationships/notesMaster" Target="/ppt/notesMasters/notesMaster1.xml" Id="Re3cabf08a3bf49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755e74393e4ad3" /><Relationship Type="http://schemas.openxmlformats.org/officeDocument/2006/relationships/notesMaster" Target="/ppt/notesMasters/notesMaster1.xml" Id="R21b08dc0d7df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Sobha promise: premium quality at scale. The pitch is not another dashboard. It is an operating layer that protects their brand promise as projects, vendors, approvals, evidence, and handovers multiply.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we studied Sobha. We are not pitching generic proptech; we are mapping directly to what they say differentiates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operating insight: Sobha has control across the chain, but the chain itself becomes the risk surface. 4C360 makes handoffs visible before they become board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evidence-led. These are not accusations. They are realistic pressure points that naturally appear when a premium developer scales delivery volume.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moment: one operating twin, not isolated charts. It is connected to the ProjectCommand demo the user can see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demo every tab. Show cause and consequence. The facade delay is strong because it touches vendor, programme, fit-out, cost, and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it practical. The pitch is not AI theatre; these are efficiency levers that reduce friction in quality, approval, vendor, and handover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pilot has to be bounded. The commercial ask is a discovery workshop and selecting a live project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scorecard makes the pilot executive-safe. We are not asking them to believe in AI; we are asking them to measure earlier decisions and reduced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specific, low-risk ask. They should leave knowing the next step is a discovery workshop and pilot candidate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ff1848c76468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c70662811e4ac6" /><Relationship Type="http://schemas.openxmlformats.org/officeDocument/2006/relationships/slideLayout" Target="/ppt/slideLayouts/slideLayout2.xml" Id="R958ea976fd2449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8ea976fd2449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ce56682604e18" /><Relationship Type="http://schemas.openxmlformats.org/officeDocument/2006/relationships/notesSlide" Target="/ppt/notesSlides/notesSlide1.xml" Id="R316956c9cb6f4d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8d891847b74e0a" /><Relationship Type="http://schemas.openxmlformats.org/officeDocument/2006/relationships/notesSlide" Target="/ppt/notesSlides/notesSlide2.xml" Id="R723d5d93682448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e4ce108dd44cd" /><Relationship Type="http://schemas.openxmlformats.org/officeDocument/2006/relationships/notesSlide" Target="/ppt/notesSlides/notesSlide3.xml" Id="Rc66f4cb4f72c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053733b88240d7" /><Relationship Type="http://schemas.openxmlformats.org/officeDocument/2006/relationships/notesSlide" Target="/ppt/notesSlides/notesSlide4.xml" Id="Re8fa4fd741d3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ec6d4667c42d3" /><Relationship Type="http://schemas.openxmlformats.org/officeDocument/2006/relationships/notesSlide" Target="/ppt/notesSlides/notesSlide5.xml" Id="Rc6b4b8208b2f41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0b014a2ba45ed" /><Relationship Type="http://schemas.openxmlformats.org/officeDocument/2006/relationships/notesSlide" Target="/ppt/notesSlides/notesSlide6.xml" Id="Rd74a7d4ebfbf48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e30a218c4408f" /><Relationship Type="http://schemas.openxmlformats.org/officeDocument/2006/relationships/notesSlide" Target="/ppt/notesSlides/notesSlide7.xml" Id="Re95d07d32992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9ce4668374b19" /><Relationship Type="http://schemas.openxmlformats.org/officeDocument/2006/relationships/notesSlide" Target="/ppt/notesSlides/notesSlide8.xml" Id="R71c12fc6ad30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85fee7ede43a2" /><Relationship Type="http://schemas.openxmlformats.org/officeDocument/2006/relationships/notesSlide" Target="/ppt/notesSlides/notesSlide9.xml" Id="R581297858d164f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418843bc8446b6" /><Relationship Type="http://schemas.openxmlformats.org/officeDocument/2006/relationships/notesSlide" Target="/ppt/notesSlides/notesSlide10.xml" Id="Raddf7da994a440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3EA885-5D6C-4739-9C45-92CFD1A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B8CAB-62D7-4F2F-8209-A7ECAEBA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1248"/>
            <a:ext cx="1181481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2C56F-EE00-46C3-B4A0-8BD884A5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87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62E7-8B8F-482B-BA3D-E15C91A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981" y="2361248"/>
            <a:ext cx="2203704" cy="5410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496EF-2149-47FB-A651-B2D08C3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3840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Evidence-led executive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E4D74-2594-48B3-BFC0-0A3AA47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90106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F4F7FB"/>
                </a:solidFill>
              </a:defRPr>
            </a:pPr>
            <a:r>
              <a:rPr sz="5400" b="1" i="0">
                <a:solidFill>
                  <a:srgbClr val="F4F7FB"/>
                </a:solidFill>
              </a:rPr>
              <a:t>Why Sobha, why now: scale the Art of Detail with a live control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36363-6F20-430C-B808-18A3BE3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9277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9C7D9"/>
                </a:solidFill>
              </a:defRPr>
            </a:pPr>
            <a:r>
              <a:rPr sz="2100" b="0" i="0">
                <a:solidFill>
                  <a:srgbClr val="B9C7D9"/>
                </a:solidFill>
              </a:rPr>
              <a:t>4C360 positions ProjectCommand as the operating twin for premium delivery: quality, programme, cost, evidence, approvals, vendors, handover, and resident readiness in one live decision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EED56-751D-41AC-8AB3-3FB23D97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96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4CE59-B705-4644-989D-73C8BCE7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771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F86A3"/>
                </a:solidFill>
              </a:defRPr>
            </a:pPr>
            <a:r>
              <a:rPr sz="1650" b="0" i="0">
                <a:solidFill>
                  <a:srgbClr val="6F86A3"/>
                </a:solidFill>
              </a:rPr>
              <a:t>Prepared for Sobha 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F0D94-E540-42F6-81BF-A45980B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266700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3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5ABB9-9BA7-4392-84C2-11040ABB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276600"/>
            <a:ext cx="3714750" cy="3714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F4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D4010-8F1D-42D5-ABAB-3728E21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9624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5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6DB4F-6B4C-4BEF-9AD6-96547F4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829050"/>
            <a:ext cx="4114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C7A45D"/>
                </a:solidFill>
              </a:defRPr>
            </a:pPr>
            <a:r>
              <a:rPr sz="4650" b="1" i="0">
                <a:solidFill>
                  <a:srgbClr val="C7A45D"/>
                </a:solidFill>
              </a:rPr>
              <a:t>AED 30B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7F9B0-1511-4011-8E4C-5C9BA82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53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9C7D9"/>
                </a:solidFill>
              </a:defRPr>
            </a:pPr>
            <a:r>
              <a:rPr sz="1350" b="0" i="0">
                <a:solidFill>
                  <a:srgbClr val="B9C7D9"/>
                </a:solidFill>
              </a:rPr>
              <a:t>FY2025 sales reported by Sobha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44152-09B4-4937-8FE8-17E4763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08635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4F7FB"/>
                </a:solidFill>
              </a:defRPr>
            </a:pPr>
            <a:r>
              <a:rPr sz="2700" b="1" i="0">
                <a:solidFill>
                  <a:srgbClr val="F4F7FB"/>
                </a:solidFill>
              </a:rPr>
              <a:t>14 UAE developments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80129-C80A-4C66-A08F-EE6E7D4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67690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8D3FF"/>
                </a:solidFill>
              </a:defRPr>
            </a:pPr>
            <a:r>
              <a:rPr sz="2700" b="1" i="0">
                <a:solidFill>
                  <a:srgbClr val="18D3FF"/>
                </a:solidFill>
              </a:rPr>
              <a:t>97/100 GRESB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F1D17-49BD-4BA4-93F2-EBF70EB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2484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9C7D9"/>
                </a:solidFill>
              </a:defRPr>
            </a:pPr>
            <a:r>
              <a:rPr sz="1350" b="0" i="0">
                <a:solidFill>
                  <a:srgbClr val="B9C7D9"/>
                </a:solidFill>
              </a:rPr>
              <a:t>Growth makes live operating control strategic.</a:t>
            </a:r>
          </a:p>
        </p:txBody>
      </p:sp>
    </p:spTree>
    <p:extLst>
      <p:ext uri="{BB962C8B-B14F-4D97-AF65-F5344CB8AC3E}">
        <p14:creationId xmlns:p14="http://schemas.microsoft.com/office/powerpoint/2010/main" val="9428206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93F51AE-1D81-4961-A7CB-6D4A929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18DC5F03-6F61-4C57-9D7C-F90347D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C3246-4DDD-41EF-BF1A-0C3676C0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DDA0E-FE72-4CAC-9252-94B0D8B9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4A756-307C-491F-88FB-3ED3623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AE7F5-1F68-47B9-B313-23E5EE3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DC4DA-4EEC-40C8-9411-1F7D742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Sobha public strengths point to the right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369DF-ECE2-453B-86B4-6081672C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36DC1-37CF-41E0-9632-E34F330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4D7D7-3733-43C0-BEC9-7E60BF8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539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7A45D"/>
                </a:solidFill>
              </a:defRPr>
            </a:pPr>
            <a:r>
              <a:rPr sz="2400" b="1" i="0">
                <a:solidFill>
                  <a:srgbClr val="C7A45D"/>
                </a:solidFill>
              </a:rPr>
              <a:t>Signature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73DCE-4BA0-4914-B325-F931FCD6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5391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9C7D9"/>
                </a:solidFill>
              </a:defRPr>
            </a:pPr>
            <a:r>
              <a:rPr sz="1800" b="0" i="0">
                <a:solidFill>
                  <a:srgbClr val="B9C7D9"/>
                </a:solidFill>
              </a:rPr>
              <a:t>Sobha publicly emphasizes in-house engineers, craftsmen, technicians, specialists, and a quality control cell reporting to the Group Chairman.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E5BE3-4739-4464-B9B0-55819581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5391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09134-2910-4145-B48B-27496D9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4F7FB"/>
                </a:solidFill>
              </a:defRPr>
            </a:pPr>
            <a:r>
              <a:rPr sz="1800" b="1" i="0">
                <a:solidFill>
                  <a:srgbClr val="F4F7FB"/>
                </a:solidFill>
              </a:rPr>
              <a:t>Pitch translation: make quality measurable, traceable, and exception-led.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F1267-043D-4534-BDEB-400AADD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85900"/>
            <a:ext cx="539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D3FF"/>
                </a:solidFill>
              </a:defRPr>
            </a:pPr>
            <a:r>
              <a:rPr sz="2400" b="1" i="0">
                <a:solidFill>
                  <a:srgbClr val="18D3FF"/>
                </a:solidFill>
              </a:rPr>
              <a:t>Backward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3189F-BEF4-4D83-8FDC-ABEDC812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5391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9C7D9"/>
                </a:solidFill>
              </a:defRPr>
            </a:pPr>
            <a:r>
              <a:rPr sz="1800" b="0" i="0">
                <a:solidFill>
                  <a:srgbClr val="B9C7D9"/>
                </a:solidFill>
              </a:rPr>
              <a:t>Sobha describes strict quality and efficiency controls across design, construction, facade, joinery, PODs, FM, community management, and security.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4CDBF-0157-4181-B1CB-9BCBB5E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5391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E771A-4D26-451C-9A5D-9135C3C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4F7FB"/>
                </a:solidFill>
              </a:defRPr>
            </a:pPr>
            <a:r>
              <a:rPr sz="1800" b="1" i="0">
                <a:solidFill>
                  <a:srgbClr val="F4F7FB"/>
                </a:solidFill>
              </a:rPr>
              <a:t>Pitch translation: connect factory, site, vendors, QA, approvals, and handover.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9FD59-573A-4411-A508-B981607A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85900"/>
            <a:ext cx="539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40D489"/>
                </a:solidFill>
              </a:defRPr>
            </a:pPr>
            <a:r>
              <a:rPr sz="2400" b="1" i="0">
                <a:solidFill>
                  <a:srgbClr val="40D489"/>
                </a:solidFill>
              </a:rPr>
              <a:t>Sustainability and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3C51D-0F91-4871-AB91-CA20F87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19300"/>
            <a:ext cx="5391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9C7D9"/>
                </a:solidFill>
              </a:defRPr>
            </a:pPr>
            <a:r>
              <a:rPr sz="1800" b="0" i="0">
                <a:solidFill>
                  <a:srgbClr val="B9C7D9"/>
                </a:solidFill>
              </a:rPr>
              <a:t>Sobha reports GRESB improvement, green finance activity, and continued project expansion across UAE and international markets.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B3699-A028-455E-A0AA-88D948B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028950"/>
            <a:ext cx="5391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7B94B-5B50-43AD-89E2-B28ECB4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19450"/>
            <a:ext cx="539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4F7FB"/>
                </a:solidFill>
              </a:defRPr>
            </a:pPr>
            <a:r>
              <a:rPr sz="1800" b="1" i="0">
                <a:solidFill>
                  <a:srgbClr val="F4F7FB"/>
                </a:solidFill>
              </a:rPr>
              <a:t>Pitch translation: make ESG and delivery proof operational, not retrospective.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8B19C-4E62-4444-8B32-DD1D31A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Sources: Sobha Signature Quality page; Sobha Energy Solutions press release; FY2025 update.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AD14E-13A5-4A38-BB1C-C80D4A1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3075328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62DB7FA-5BED-4414-9798-A93B3268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18DA80B2-6571-41E4-86FF-A366BDF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CD620-940A-417D-BFE7-EDCE0C1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41581-BD75-42E4-97F5-F0A22ED8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78B2D-66E4-4F67-A382-8E1241E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0AC84-DF2F-43DF-B2A2-11F9AD6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C2EEE-415C-4EB3-90C0-AA6881F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The hidden challenge: preserving premium quality while scaling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4C7D3-AAC7-4356-A449-A01FA2BD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5FD55-E504-448F-8116-2C54DB8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FBCB1-F208-4378-9194-5D30824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65532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4F7FB"/>
                </a:solidFill>
              </a:defRPr>
            </a:pPr>
            <a:r>
              <a:rPr sz="4050" b="1" i="0">
                <a:solidFill>
                  <a:srgbClr val="F4F7FB"/>
                </a:solidFill>
              </a:rPr>
              <a:t>Scale does not break quality at the headline level. It breaks in handoffs.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84033-2A64-4CB4-8678-E1BF54DD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7239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9C7D9"/>
                </a:solidFill>
              </a:defRPr>
            </a:pPr>
            <a:r>
              <a:rPr sz="1950" b="0" i="0">
                <a:solidFill>
                  <a:srgbClr val="B9C7D9"/>
                </a:solidFill>
              </a:rPr>
              <a:t>Design changes, vendor delays, inspection evidence, authority approvals, commissioning certificates, snag closure, and handover packs can each look local until they compound into delivery confidence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A8412-6272-4925-9F78-B653AB7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957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A45D"/>
                </a:solidFill>
              </a:defRPr>
            </a:pPr>
            <a:r>
              <a:rPr sz="1650" b="1" i="0">
                <a:solidFill>
                  <a:srgbClr val="C7A45D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0DC41-4E11-4BAB-9FE0-C68886CE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36C50-2DD8-47DB-AF5D-F7F3FCB1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576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B5B86-2C6B-46FD-9D00-9749CF0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910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A45D"/>
                </a:solidFill>
              </a:defRPr>
            </a:pPr>
            <a:r>
              <a:rPr sz="1650" b="1" i="0">
                <a:solidFill>
                  <a:srgbClr val="C7A45D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56414-A36E-4620-913A-91C4C18C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FC941-8D71-458D-A4EF-2914445F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529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Procurement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AB482-C776-4C41-B148-3F74D1B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A45D"/>
                </a:solidFill>
              </a:defRPr>
            </a:pPr>
            <a:r>
              <a:rPr sz="1650" b="1" i="0">
                <a:solidFill>
                  <a:srgbClr val="C7A45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FF35A-F0BC-4AD9-A926-C0F409D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006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4DF1E-968F-4EC3-A1AD-379CD2EF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291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Factory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E0BCE-2A4E-414B-8512-4BE6FAA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625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A45D"/>
                </a:solidFill>
              </a:defRPr>
            </a:pPr>
            <a:r>
              <a:rPr sz="1650" b="1" i="0">
                <a:solidFill>
                  <a:srgbClr val="C7A45D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20329-4248-4D05-830B-BC2A7A8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76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44661-3B6C-4CB0-B2B5-F9FDEB4A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244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Site 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AAABE-E75A-43C7-BA78-0F5ABA2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388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DE98C-8D4D-4274-B71E-37E609B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753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3FF"/>
          </a:solidFill>
          <a:ln xmlns:a="http://schemas.openxmlformats.org/drawingml/2006/main" w="0">
            <a:solidFill>
              <a:srgbClr val="18D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4A0900-3CAF-4011-A05A-FF7B583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007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Inspection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E70F3-0A7A-4C24-957A-4AB1EEA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150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2455A-4A51-456B-ABA4-19DCDE52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484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3FF"/>
          </a:solidFill>
          <a:ln xmlns:a="http://schemas.openxmlformats.org/drawingml/2006/main" w="0">
            <a:solidFill>
              <a:srgbClr val="18D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4AB9E-63EE-4818-B388-1662A23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769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6AA62-327C-4A7F-9EF6-CC788E97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6103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800C7-6E94-48C6-A708-1D5E04AC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7246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3FF"/>
          </a:solidFill>
          <a:ln xmlns:a="http://schemas.openxmlformats.org/drawingml/2006/main" w="0">
            <a:solidFill>
              <a:srgbClr val="18D3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772D5-8470-4EA4-86BC-BFE0734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7225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Handover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E2147-134A-491B-95DB-BB8EC33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70866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AADB7-8B80-42D0-A2FF-7FC1D737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2009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3FF"/>
          </a:solidFill>
          <a:ln xmlns:a="http://schemas.openxmlformats.org/drawingml/2006/main" w="0">
            <a:solidFill>
              <a:srgbClr val="18D3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A44AE6-C9C5-4D6C-8306-780C1CE4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048500"/>
            <a:ext cx="729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4F7FB"/>
                </a:solidFill>
              </a:defRPr>
            </a:pPr>
            <a:r>
              <a:rPr sz="2175" b="1" i="0">
                <a:solidFill>
                  <a:srgbClr val="F4F7FB"/>
                </a:solidFill>
              </a:rPr>
              <a:t>Resident trust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78B14-04DC-465D-AE5F-BD98C90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Inference based on Sobha public operating model and common scale risks in construction delivery.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D32A7D-8F8B-4E43-BBDF-50FA51F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4221036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AC31F5C-AF10-487E-BD8B-BD3C547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E19032CB-2C21-41BC-B49E-C285AB9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839D7-042F-4152-8621-BBCFDB71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C1F05-41A3-4B2A-958B-CE6A8E2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BC5D-577E-45B8-A7D7-5E154574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A944-195D-4781-8C07-36616A6B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4250B-7AD0-4B4B-8B63-21BB502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Pain point map: where 4C360 solves real operating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6B2BC-24D9-4A3C-ADC3-118E577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82557-CADE-48B8-902B-576E57B4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8B76C-7503-4312-9403-CC8EFBD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4305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A45D"/>
                </a:solidFill>
              </a:defRPr>
            </a:pPr>
            <a:r>
              <a:rPr sz="1425" b="1" i="0">
                <a:solidFill>
                  <a:srgbClr val="C7A45D"/>
                </a:solidFill>
              </a:rPr>
              <a:t>Pain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D65E2-1B43-4B44-A390-156BFAC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85900"/>
            <a:ext cx="59817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A45D"/>
                </a:solidFill>
              </a:defRPr>
            </a:pPr>
            <a:r>
              <a:rPr sz="1425" b="1" i="0">
                <a:solidFill>
                  <a:srgbClr val="C7A45D"/>
                </a:solidFill>
              </a:rPr>
              <a:t>Real operational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D7824-552F-4AEE-9E55-AAE27CCF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485900"/>
            <a:ext cx="59817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A45D"/>
                </a:solidFill>
              </a:defRPr>
            </a:pPr>
            <a:r>
              <a:rPr sz="1425" b="1" i="0">
                <a:solidFill>
                  <a:srgbClr val="C7A45D"/>
                </a:solidFill>
              </a:rPr>
              <a:t>4C360 efficiency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719C4-8407-4973-ACEA-1535445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3053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Delivery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D7ACE-39DB-47DE-84A6-EE3B72D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Float consumed by facade, crane, MEP, weather, approvals, or vendor events.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61BC8-8486-446A-A24B-2F81154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9146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Live Project Control Twin recalculates health, CPI/SPI, EAC, float, and handover confidence.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E282A-1CC8-45AB-9AA9-918A29D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43053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Evidence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B59E6-E388-4C5D-A5AC-90448AE9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Rejected proof blocks gates, weakens audit readiness, and slows handover.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C113D-1BFB-48B3-82A2-43372640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61010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Evidence Command links proof quality to inspections, stage gates, obligations, and owners.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3E85-E191-4265-AB25-91D7081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43053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Vendor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DE943-93E7-452A-BA37-73B86C0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3055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Backward integration still needs objective package-level scorecards and escalation.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5A37A-71E9-415D-B195-F4E6A58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055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VendorIQ connects delivery, quality, evidence, cost, and repeat issue signals.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A831-603F-4323-9316-406661D8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20050"/>
            <a:ext cx="43053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Handover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876F0-A3EA-40A7-8370-76FF588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0200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Premium buyers feel defects, missing documents, and delayed move-in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59306-A89B-48C6-A15D-B86D20CA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020050"/>
            <a:ext cx="5981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ResidentPortal + ProjectCommand turns handover readiness into a measurable confidence layer.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43F2C-1885-4AFA-A771-8F800FCD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Pain points are inferred from Sobha public model plus typical construction delivery control risks.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2ADEA-0E1A-4126-B56C-E60A23ED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1314131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5B4AC4C-74FF-4C8C-8DD4-B6D0E7A1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B68DDEDA-0BA2-4CD9-B637-4AF2257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A9F62-457F-475B-8178-6FB6C7A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2DBD-BC6E-48BA-A7D0-452F2B41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7D02F-2A0A-424E-B835-A95C9319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5E32D-6501-451C-AD25-4547505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BA9EE-78BB-4EE5-9236-DAF6A0A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4C360 answer: the Live Project Control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C2D03-DB14-4BB2-8A5A-2E3AC51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E0087-A27F-46BA-85FC-DDD036B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07177-A4F8-4A31-97A6-6A0E655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7648"/>
            <a:ext cx="169811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7474F-E91C-4969-93C8-51BB4E4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C7A45D"/>
                </a:solidFill>
              </a:defRPr>
            </a:pPr>
            <a:r>
              <a:rPr sz="1500" b="1" i="0">
                <a:solidFill>
                  <a:srgbClr val="C7A45D"/>
                </a:solidFill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E77B4-EFD5-416F-9904-D3B9BB4A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17" y="4037648"/>
            <a:ext cx="169811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3F3CF-2ED0-45FA-BB33-D7686A5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E2BC1-2E4F-4DE3-8EEF-A44225A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934" y="4037648"/>
            <a:ext cx="169811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02C5B-6E0A-4414-87CD-2CD55AF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92764-23DC-42FF-B920-E264602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351" y="4037648"/>
            <a:ext cx="169811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F17A5-836C-4382-8349-F12A9B5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D028F-1DE4-411F-8457-50D8D43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768" y="4037648"/>
            <a:ext cx="169811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D489">
              <a:alpha val="13333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2F4C9-09A0-4291-8C72-06D3F4D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0D489"/>
                </a:solidFill>
              </a:defRPr>
            </a:pPr>
            <a:r>
              <a:rPr sz="1500" b="1" i="0">
                <a:solidFill>
                  <a:srgbClr val="40D489"/>
                </a:solidFill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AE8AB-879D-41D3-8B30-F7F4C37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7429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4F7FB"/>
                </a:solidFill>
              </a:defRPr>
            </a:pPr>
            <a:r>
              <a:rPr sz="3750" b="1" i="0">
                <a:solidFill>
                  <a:srgbClr val="F4F7FB"/>
                </a:solidFill>
              </a:rPr>
              <a:t>Every event updates the same control state.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01CCF-CAD6-41D5-9F59-9AD1A87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8077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9C7D9"/>
                </a:solidFill>
              </a:defRPr>
            </a:pPr>
            <a:r>
              <a:rPr sz="1950" b="0" i="0">
                <a:solidFill>
                  <a:srgbClr val="B9C7D9"/>
                </a:solidFill>
              </a:rPr>
              <a:t>Facade delay, authority approval, inspection rejection, variation, vendor issue, or recovery action should not live in separate reports. The twin makes the cascade visible and decision-ready.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69777-05E7-4421-85A5-86209D3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1487805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D0209-C597-42B6-B04A-BA6CA25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573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7A45D"/>
                </a:solidFill>
              </a:defRPr>
            </a:pPr>
            <a:r>
              <a:rPr sz="1725" b="1" i="0">
                <a:solidFill>
                  <a:srgbClr val="C7A45D"/>
                </a:solidFill>
              </a:rPr>
              <a:t>Programme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8FAFD-CB12-4FA7-B9D8-86DD6FD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643" y="1487805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1E453-5F0E-4CC7-8029-1252BA78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6573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7A45D"/>
                </a:solidFill>
              </a:defRPr>
            </a:pPr>
            <a:r>
              <a:rPr sz="1725" b="1" i="0">
                <a:solidFill>
                  <a:srgbClr val="C7A45D"/>
                </a:solidFill>
              </a:rPr>
              <a:t>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E673A-CA18-436A-B222-A1BA149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3547586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833CE-7216-415C-B820-7B30FEB4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147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7A45D"/>
                </a:solidFill>
              </a:defRPr>
            </a:pPr>
            <a:r>
              <a:rPr sz="1725" b="1" i="0">
                <a:solidFill>
                  <a:srgbClr val="C7A45D"/>
                </a:solidFill>
              </a:rPr>
              <a:t>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5F136B-ECE8-4B56-98A8-9226BC10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643" y="3547586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14541-9E87-4F59-ABB0-183868B8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7147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7A45D"/>
                </a:solidFill>
              </a:defRPr>
            </a:pPr>
            <a:r>
              <a:rPr sz="1725" b="1" i="0">
                <a:solidFill>
                  <a:srgbClr val="C7A45D"/>
                </a:solidFill>
              </a:rPr>
              <a:t>Vendors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60990-422D-4684-A02C-39056F7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5607368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3A41F-3761-4F33-BFFF-76CFAA6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721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D3FF"/>
                </a:solidFill>
              </a:defRPr>
            </a:pPr>
            <a:r>
              <a:rPr sz="1725" b="1" i="0">
                <a:solidFill>
                  <a:srgbClr val="18D3FF"/>
                </a:solidFill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96373-1C4F-449E-8561-D33E4FE1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643" y="5607368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B15E44-AB1F-4154-9F3E-C98348EF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7721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D3FF"/>
                </a:solidFill>
              </a:defRPr>
            </a:pPr>
            <a:r>
              <a:rPr sz="1725" b="1" i="0">
                <a:solidFill>
                  <a:srgbClr val="18D3FF"/>
                </a:solidFill>
              </a:rPr>
              <a:t>Workforce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4CD63-FE45-40FE-ADE2-F555D249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7667149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FA44B4-AE13-4DC4-8AD0-E85FE629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8295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D3FF"/>
                </a:solidFill>
              </a:defRPr>
            </a:pPr>
            <a:r>
              <a:rPr sz="1725" b="1" i="0">
                <a:solidFill>
                  <a:srgbClr val="18D3FF"/>
                </a:solidFill>
              </a:rPr>
              <a:t>Gates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40E144-08EB-4F92-9FDD-7DF8914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643" y="7667149"/>
            <a:ext cx="358425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E80CC8-4281-41DA-844A-648B60D7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78295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D3FF"/>
                </a:solidFill>
              </a:defRPr>
            </a:pPr>
            <a:r>
              <a:rPr sz="1725" b="1" i="0">
                <a:solidFill>
                  <a:srgbClr val="18D3FF"/>
                </a:solidFill>
              </a:rPr>
              <a:t>Handover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093A6B-5174-4D0B-9676-171F6632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Product mapping: current 4C360 ProjectCommand live twin demo.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AD2DC0-8B3C-41B3-B6CB-180D405C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135245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D1D6BF2-E21F-47C6-B13A-60107C9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5DC962E4-F788-4FB0-A431-693DC7FD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83FD9-5F04-4784-8006-B8C962DA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6D426-868B-4C20-8D00-17BD81C5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7AEE2-B829-4FA6-9B38-0B5981E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76F1-37D0-4F2D-B58A-335E90E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6DBAE-B6F8-4DA7-9AED-18B0051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Demo story: one event changes the whole control picture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2924D-1C17-4C17-B4F1-D25AB26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0AE39-2959-41CC-AD9A-080C4447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8A287-9BF4-40BC-80D4-89FA490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9151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 i="0">
                <a:solidFill>
                  <a:srgbClr val="F4F7FB"/>
                </a:solidFill>
              </a:defRPr>
            </a:pPr>
            <a:r>
              <a:rPr sz="4125" b="1" i="0">
                <a:solidFill>
                  <a:srgbClr val="F4F7FB"/>
                </a:solidFill>
              </a:rPr>
              <a:t>Run this live in 7 minutes.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695A2-032C-4B33-A6AC-B9E0F2CD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65913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B9C7D9"/>
                </a:solidFill>
              </a:defRPr>
            </a:pPr>
            <a:r>
              <a:rPr sz="2025" b="0" i="0">
                <a:solidFill>
                  <a:srgbClr val="B9C7D9"/>
                </a:solidFill>
              </a:rPr>
              <a:t>The story is simple: AI reads project material, builds the control baseline, then a real project event creates a cascade that leadership can act 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AF321-6F0E-42DC-A0FF-82E12A0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22658"/>
            <a:ext cx="6914198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1CA27-467A-4944-A803-A4EFFB1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10300"/>
            <a:ext cx="6457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D3FF"/>
                </a:solidFill>
              </a:defRPr>
            </a:pPr>
            <a:r>
              <a:rPr sz="1875" b="1" i="0">
                <a:solidFill>
                  <a:srgbClr val="18D3FF"/>
                </a:solidFill>
              </a:rPr>
              <a:t>Recommended event sequence: facade delay -&gt; approval delay -&gt; evidence rejection -&gt; recovery action approved.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21756-BBB6-491F-B780-812D1433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3867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4118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EB38-BCF4-4035-BE8E-0DFF022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88C55-138B-4A7A-86B9-2EF87BD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862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4F7FB"/>
                </a:solidFill>
              </a:defRPr>
            </a:pPr>
            <a:r>
              <a:rPr sz="1950" b="1" i="0">
                <a:solidFill>
                  <a:srgbClr val="F4F7FB"/>
                </a:solidFill>
              </a:rPr>
              <a:t>AI reads LOA / project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BDB1F-B7BA-4705-A2B1-BA593AC9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45529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4118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D33C8-A4DB-4129-B353-2254898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ACE13-8BD1-4F57-B251-EEB7589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862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4F7FB"/>
                </a:solidFill>
              </a:defRPr>
            </a:pPr>
            <a:r>
              <a:rPr sz="1950" b="1" i="0">
                <a:solidFill>
                  <a:srgbClr val="F4F7FB"/>
                </a:solidFill>
              </a:rPr>
              <a:t>Baseline created: programme, cost, gates, vendors, risks,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4BC8E-C209-4724-A174-BBC1F211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5257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A66">
              <a:alpha val="18824"/>
            </a:srgbClr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533E7-5652-4553-ACD9-27672B4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5A66"/>
                </a:solidFill>
              </a:defRPr>
            </a:pPr>
            <a:r>
              <a:rPr sz="1800" b="1" i="0">
                <a:solidFill>
                  <a:srgbClr val="FF5A66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77D5E-A438-4927-882C-74D8D65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862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4F7FB"/>
                </a:solidFill>
              </a:defRPr>
            </a:pPr>
            <a:r>
              <a:rPr sz="1950" b="1" i="0">
                <a:solidFill>
                  <a:srgbClr val="F4F7FB"/>
                </a:solidFill>
              </a:rPr>
              <a:t>Trigger facade procurement delay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5A015-5D2C-4CD7-8A07-9BA9A565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59436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4118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B887C-CFEC-4EE2-A88A-B8D01BC8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960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A144F-0389-4907-8B4D-296999BB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76950"/>
            <a:ext cx="862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4F7FB"/>
                </a:solidFill>
              </a:defRPr>
            </a:pPr>
            <a:r>
              <a:rPr sz="1950" b="1" i="0">
                <a:solidFill>
                  <a:srgbClr val="F4F7FB"/>
                </a:solidFill>
              </a:rPr>
              <a:t>Twin recalculates health, SPI, float, EAC, evidence,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664A1-0E7E-4E57-ACF6-9A67D2F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66484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4118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6B10F-2EEA-432C-8A9A-0A3598C0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80085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188D9-0DAC-4B76-90AA-FCCADB8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762750"/>
            <a:ext cx="8629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4F7FB"/>
                </a:solidFill>
              </a:defRPr>
            </a:pPr>
            <a:r>
              <a:rPr sz="1950" b="1" i="0">
                <a:solidFill>
                  <a:srgbClr val="F4F7FB"/>
                </a:solidFill>
              </a:rPr>
              <a:t>Copilot recommends manager action and recovery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50EE3-9F2A-44D5-8A2E-3FB21515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Demo source: ProjectCommand overview at /projectcommand/overview.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A850C-1313-41A0-9AC9-1D5A306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936666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0AD20D8-E31D-468B-B70B-574C4DD8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D76F10CC-A137-4628-8B1C-E99F60A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4A109-F11D-4116-A31E-DB4A60B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EC908-5CAB-495B-ACC1-C810613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2C9B1-53DB-4F0B-BD15-40D59C2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848D-97F0-4CAD-B4AC-1197EAD8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B8B10-7D93-45F3-856B-6F556D7B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Efficiency solutions that hit real pain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E0EE-6B80-4EE1-9A13-A890868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295A-FF84-4605-81F9-8928BED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F8A7C-C194-425E-9C28-E9E15A6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7805"/>
            <a:ext cx="8210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05979-3309-4E0D-900B-F2F8811E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C7A45D"/>
                </a:solidFill>
              </a:defRPr>
            </a:pPr>
            <a:r>
              <a:rPr sz="2250" b="1" i="0">
                <a:solidFill>
                  <a:srgbClr val="C7A45D"/>
                </a:solidFill>
              </a:rPr>
              <a:t>QA Evidence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A302B-22C1-4B20-989A-174585F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B9C7D9"/>
                </a:solidFill>
              </a:defRPr>
            </a:pPr>
            <a:r>
              <a:rPr sz="1725" b="0" i="0">
                <a:solidFill>
                  <a:srgbClr val="B9C7D9"/>
                </a:solidFill>
              </a:rPr>
              <a:t>Reject weak evidence early; tie proof to inspection, gate, and handover readiness.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5BE14-2313-443E-BD0C-1250CF5F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767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2433F-9A56-441F-9141-B8816188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Less rework, fewer late audit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16769-0AD8-470A-A099-1E3984F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87805"/>
            <a:ext cx="8210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BE7B7-F05D-43D9-812E-EC3C841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C7A45D"/>
                </a:solidFill>
              </a:defRPr>
            </a:pPr>
            <a:r>
              <a:rPr sz="2250" b="1" i="0">
                <a:solidFill>
                  <a:srgbClr val="C7A45D"/>
                </a:solidFill>
              </a:rPr>
              <a:t>Approval Gate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1CB35-E104-487C-A482-DC23E19D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98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B9C7D9"/>
                </a:solidFill>
              </a:defRPr>
            </a:pPr>
            <a:r>
              <a:rPr sz="1725" b="0" i="0">
                <a:solidFill>
                  <a:srgbClr val="B9C7D9"/>
                </a:solidFill>
              </a:rPr>
              <a:t>Track authority and compliance dependencies before commissioning pressure.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32C5F-E9FD-478C-B2E1-95F50EA0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28900"/>
            <a:ext cx="767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DEF1D-C5B4-4B68-BEB5-97A79B5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Earlier blocker visibility and cleaner go/no-go reviews.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FBB03-6442-4C2C-BB11-E83BFDC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5468"/>
            <a:ext cx="8210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94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5933A-D2F3-44CB-A2B4-F34BE60E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8D3FF"/>
                </a:solidFill>
              </a:defRPr>
            </a:pPr>
            <a:r>
              <a:rPr sz="2250" b="1" i="0">
                <a:solidFill>
                  <a:srgbClr val="18D3FF"/>
                </a:solidFill>
              </a:rPr>
              <a:t>Backward Integration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95A94-4ECB-4697-9E95-2FD3A466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B9C7D9"/>
                </a:solidFill>
              </a:defRPr>
            </a:pPr>
            <a:r>
              <a:rPr sz="1725" b="0" i="0">
                <a:solidFill>
                  <a:srgbClr val="B9C7D9"/>
                </a:solidFill>
              </a:rPr>
              <a:t>Score internal/external package delivery by quality, evidence, cost, and schedule.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91C0E-D288-4CA8-AADF-92D5D21E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81800"/>
            <a:ext cx="767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38A9F-BB6A-440D-ADCD-BFA34F49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Objective escalation before vendor/package drift compounds.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4F4A1-CE77-412B-B10C-CDF2464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45468"/>
            <a:ext cx="8210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235FD-8833-475F-9147-D64920E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67400"/>
            <a:ext cx="7677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8D3FF"/>
                </a:solidFill>
              </a:defRPr>
            </a:pPr>
            <a:r>
              <a:rPr sz="2250" b="1" i="0">
                <a:solidFill>
                  <a:srgbClr val="18D3FF"/>
                </a:solidFill>
              </a:rPr>
              <a:t>Handover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11B3C-3DF1-4D04-969A-0429DD8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627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B9C7D9"/>
                </a:solidFill>
              </a:defRPr>
            </a:pPr>
            <a:r>
              <a:rPr sz="1725" b="0" i="0">
                <a:solidFill>
                  <a:srgbClr val="B9C7D9"/>
                </a:solidFill>
              </a:rPr>
              <a:t>Blend snag closure, documents, warranty packs, resident readiness, and project gates.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F4954-E402-4CE7-B60A-574CE13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781800"/>
            <a:ext cx="767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C015D-E6EB-4B9E-B3EB-9B423E40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9532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Premium buyer trust protected at move-in.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3F062-56ED-4AC0-ACED-2B1E13A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Efficiency opportunities are framed as pilot measurement targets, not guaranteed ROI.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A2C4B-62F4-4830-A53B-839B2EF8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8059338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FAA3F74-8F64-4A5E-A54A-F6ED6FD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5BB9B2B8-FA00-4E3C-9981-5CC05800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AB2E-C9DE-4617-ACD5-E007A0DD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0D687-12A0-435F-91FA-1FC91AEE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6BA7D-44BD-41EF-89E3-F6692016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CB0ED-D7FE-42C6-B610-402889F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A3AA0-EC96-4AED-B07D-3FCEE266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Pilot proposal: one live tower or masterplan, 6-8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DE0CC-816E-4301-AABD-4392BAC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0FE63-61E7-4D32-AD76-F2E5177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E3181-584A-4A5C-B239-B23A647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800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4F7FB"/>
                </a:solidFill>
              </a:defRPr>
            </a:pPr>
            <a:r>
              <a:rPr sz="4200" b="1" i="0">
                <a:solidFill>
                  <a:srgbClr val="F4F7FB"/>
                </a:solidFill>
              </a:rPr>
              <a:t>The pilot should prove control, not boil the ocean.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647A0-E749-4EBE-86F0-353EE16C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714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B9C7D9"/>
                </a:solidFill>
              </a:defRPr>
            </a:pPr>
            <a:r>
              <a:rPr sz="2025" b="0" i="0">
                <a:solidFill>
                  <a:srgbClr val="B9C7D9"/>
                </a:solidFill>
              </a:rPr>
              <a:t>Select one active tower or masterplan workstream where programme pressure, QA evidence, approvals, vendor packages, and handover readiness all matter.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3A833-6147-4C54-92E8-37D7B620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8590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Week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18646-FA03-4C5F-B15D-4932E381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Baseline setup from LOA, BOQ/project summary, milestone, vendor, risk, evidence inputs.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DEA05-419C-4C6A-9B87-00D8AFA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48590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Weeks 2-3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E4001-5FBF-4A64-9B46-9E77F35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84785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Connect live project events, gates, evidence rules, and manager action queue.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01858-4D20-4226-8CFF-E3B0E635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4815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Weeks 4-5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5E76A-235B-487D-AE41-3787A7ED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Run weekly executive twin review: what changed, exposure, confidence,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C39B7-06B4-40B0-98AB-B2C1629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24815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Weeks 6-8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D2C0F-1B73-4F6B-8920-C6D384E2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9105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Measure outcomes, refine playbook, decide expansion into VendorIQ, ResidentPortal, ESG.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BC044-A84E-4833-97B1-EB750B5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9135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B1705-4740-49B4-B78E-AA183CF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35330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Project summary, schedule extracts, cost baseline, QA checklist, vendor list, approval tracker.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A6682-B4A1-48A4-B9F4-832DDB13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991350"/>
            <a:ext cx="407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D3FF"/>
                </a:solidFill>
              </a:defRPr>
            </a:pPr>
            <a:r>
              <a:rPr sz="1800" b="1" i="0">
                <a:solidFill>
                  <a:srgbClr val="18D3FF"/>
                </a:solidFill>
              </a:rPr>
              <a:t>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9AD12-E373-4FFF-ABB9-616BB01C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353300"/>
            <a:ext cx="4076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Live twin, event feed, control exceptions, decisions, handover confidence, exec readout.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035F2-9830-4AED-B653-1D950A4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Pilot scope proposed by 4C360; to be validated with Sobha stakeholders.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FE80A-6039-4F46-A348-D8C8FFD3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15492548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CF80600-C966-4FF5-89CC-7CF07F43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6D5344BB-CF93-45DC-A48F-C074148D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88023-4AF1-4574-88E5-98BFDF64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A1647-A790-4755-90C5-0A83AAA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6BA60-9FBD-4121-8BCD-8DB6155C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D7C6-BA4F-4328-953A-E4B285F9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BA8F5-1DFA-4068-9AFF-BAD22EFC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Success metrics: measure confidence, not software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BA2D5-8D6F-4840-AB46-0195234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F733-5C95-4334-BB25-04FE1E0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7AADC-46E4-4347-9E1F-3EA9712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69342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4F7FB"/>
                </a:solidFill>
              </a:defRPr>
            </a:pPr>
            <a:r>
              <a:rPr sz="4200" b="1" i="0">
                <a:solidFill>
                  <a:srgbClr val="F4F7FB"/>
                </a:solidFill>
              </a:rPr>
              <a:t>The pilot scorecard should read like an operating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7CB91-684F-45CA-9370-67AA9A7B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72009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B9C7D9"/>
                </a:solidFill>
              </a:defRPr>
            </a:pPr>
            <a:r>
              <a:rPr sz="2025" b="0" i="0">
                <a:solidFill>
                  <a:srgbClr val="B9C7D9"/>
                </a:solidFill>
              </a:rPr>
              <a:t>Avoid vanity AI metrics. Track whether Sobha sees risks earlier, closes evidence gaps faster, protects float, and creates cleaner executive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DEA53-4D74-45AD-A3C5-F879D5A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3092768"/>
            <a:ext cx="7736681" cy="84582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19C0C-0377-4CE9-9FC6-FE050A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385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Float protected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EF693-D39C-4478-87DC-93B9170C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6235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Days of schedule exposure identified and recovered.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A6EEC-6053-46CA-B666-A311F47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4100513"/>
            <a:ext cx="7736681" cy="84582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07B3A-81F0-4EFC-8631-9317FAD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4815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Evidence gaps 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F034B-58C3-420B-86F0-52E110F9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7200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Rejected or missing proof reduced before gate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ABB33-7F07-4385-8D90-4C72C5CF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5108258"/>
            <a:ext cx="7736681" cy="84582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A51B1-23B7-4F02-9FD9-EE9191F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578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Approval blockers surfaced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9B16D-2F8F-4C41-9D27-16C1D0A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58165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Authority dependencies flagged earlier.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A078F-C892-4764-AAA8-EC87D9FA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6116002"/>
            <a:ext cx="7736681" cy="84582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CA877-0A67-497B-8496-BDEC837D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26745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Vendor issue cycle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00711-3D0D-40A3-8A0A-35E0E338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57225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Package issues escalated with evidence and owner.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5EFCE-18D1-4D80-92BF-C49DA23E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7123747"/>
            <a:ext cx="7736681" cy="84582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F07BF-473F-4C16-8C5B-F490BD33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2771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Handover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EA3D2-15A3-4247-BAED-A276021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58190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Readiness score improves before buyer-facing milestones.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4E207-92AF-4F52-A2D6-D910E54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Metrics are pilot measurement targets, not claimed achieved outcomes.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0B61E-BB5E-4E18-BE03-A52A6A5A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9409599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61215DC-6CC4-4917-AD27-8AE34F2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field">
            <a:extLst xmlns:a="http://schemas.openxmlformats.org/drawingml/2006/main">
              <a:ext uri="{FF2B5EF4-FFF2-40B4-BE49-F238E27FC236}">
                <a16:creationId xmlns:a16="http://schemas.microsoft.com/office/drawing/2014/main" id="{021FB036-B50A-4574-A232-40BC79E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C526C-7826-4D81-9965-C97D19A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69497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61294-4600-4BBF-8280-4D6E557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Sobha Realty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6060E-FF5A-47DD-B8F0-6BA4350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374" y="381000"/>
            <a:ext cx="1662494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D3FF">
              <a:alpha val="13333"/>
            </a:srgbClr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48021-D059-4E8D-99EE-3F76F68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D3FF"/>
                </a:solidFill>
              </a:defRPr>
            </a:pPr>
            <a:r>
              <a:rPr sz="1275" b="1" i="0">
                <a:solidFill>
                  <a:srgbClr val="18D3FF"/>
                </a:solidFill>
              </a:rPr>
              <a:t>Executive pitch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3D8D6-FF24-40FF-B7E6-EB850AB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3830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4F7FB"/>
                </a:solidFill>
              </a:defRPr>
            </a:pPr>
            <a:r>
              <a:rPr sz="3300" b="1" i="0">
                <a:solidFill>
                  <a:srgbClr val="F4F7FB"/>
                </a:solidFill>
              </a:rPr>
              <a:t>Executive ask: pick the project where control matters most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622B4-7277-426D-AD2F-BAB0621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477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B"/>
                </a:solidFill>
              </a:defRPr>
            </a:pPr>
            <a:r>
              <a:rPr sz="1500" b="1" i="0">
                <a:solidFill>
                  <a:srgbClr val="F4F7FB"/>
                </a:solidFill>
              </a:rPr>
              <a:t>DevelopmentX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2246E-5CD7-4A0F-84FE-1B74539C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144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Powered by 4C360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9F849-1E71-4DD3-B9FA-99DF424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811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C7A45D"/>
                </a:solidFill>
              </a:defRPr>
            </a:pPr>
            <a:r>
              <a:rPr sz="2175" b="1" i="0">
                <a:solidFill>
                  <a:srgbClr val="C7A45D"/>
                </a:solidFill>
              </a:rPr>
              <a:t>Recommended next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7301F-FBEF-48F6-A61F-A2E81100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693420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F4F7FB"/>
                </a:solidFill>
              </a:defRPr>
            </a:pPr>
            <a:r>
              <a:rPr sz="3375" b="1" i="0">
                <a:solidFill>
                  <a:srgbClr val="F4F7FB"/>
                </a:solidFill>
              </a:rPr>
              <a:t>A 60-minute discovery workshop with development, project controls, QA/QC, commercial, handover, and digital leadership.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829A9-6965-4E2A-AE75-C00D3FB3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86550"/>
            <a:ext cx="6877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B9C7D9"/>
                </a:solidFill>
              </a:defRPr>
            </a:pPr>
            <a:r>
              <a:rPr sz="2025" b="0" i="0">
                <a:solidFill>
                  <a:srgbClr val="B9C7D9"/>
                </a:solidFill>
              </a:rPr>
              <a:t>Goal: select one pilot candidate and agree which operating signals matter most.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2F5A1-618C-44C7-A0E0-F1EEC7D1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4118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FD5B4-9F0B-43B0-94EB-C95682EE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8B705-A2BB-4F3C-AEF4-AF84CCDA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95750"/>
            <a:ext cx="7391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4F7FB"/>
                </a:solidFill>
              </a:defRPr>
            </a:pPr>
            <a:r>
              <a:rPr sz="1875" b="1" i="0">
                <a:solidFill>
                  <a:srgbClr val="F4F7FB"/>
                </a:solidFill>
              </a:rPr>
              <a:t>Confirm the business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A7ECC-57A3-4855-8C0A-242BD7CA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3865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Where is delivery confidence most valuable this quarter?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D8460-F923-4665-8DA3-E9820BC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4118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F0177-00E1-42ED-AC65-7581CD7D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2920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5030C-39AD-48DB-8B2D-2723683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57750"/>
            <a:ext cx="7391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4F7FB"/>
                </a:solidFill>
              </a:defRPr>
            </a:pPr>
            <a:r>
              <a:rPr sz="1875" b="1" i="0">
                <a:solidFill>
                  <a:srgbClr val="F4F7FB"/>
                </a:solidFill>
              </a:rPr>
              <a:t>Select pilot 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8C080-A787-4B58-BB22-86EE119E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0065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One tower, stage gate, handover stream, or package cluster.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B6BDC-5C2F-4269-9B3A-115951C9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38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4118"/>
            </a:srgbClr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A2A3B-0849-45C2-93C4-EFF64FFA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9120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3B47E-3E8E-493E-BDCD-7BDD54C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38800"/>
            <a:ext cx="7391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4F7FB"/>
                </a:solidFill>
              </a:defRPr>
            </a:pPr>
            <a:r>
              <a:rPr sz="1875" b="1" i="0">
                <a:solidFill>
                  <a:srgbClr val="F4F7FB"/>
                </a:solidFill>
              </a:rPr>
              <a:t>Agree evidence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823A9-07ED-4C47-9919-FA6D2711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8170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Schedule, cost baseline, vendors, gates, approvals, QA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27579-C1C9-4699-AAFE-E67FEAF5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19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4118"/>
            </a:srgbClr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43DD9-96FE-4A95-B10A-79A47C72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A45D"/>
                </a:solidFill>
              </a:defRPr>
            </a:pPr>
            <a:r>
              <a:rPr sz="1800" b="1" i="0">
                <a:solidFill>
                  <a:srgbClr val="C7A45D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16553-FEDF-4505-920F-4BB5C0B4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00800"/>
            <a:ext cx="7391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4F7FB"/>
                </a:solidFill>
              </a:defRPr>
            </a:pPr>
            <a:r>
              <a:rPr sz="1875" b="1" i="0">
                <a:solidFill>
                  <a:srgbClr val="F4F7FB"/>
                </a:solidFill>
              </a:rPr>
              <a:t>Run live twin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367FB-B5C5-46CA-8DC7-A937CE57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4370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7D9"/>
                </a:solidFill>
              </a:defRPr>
            </a:pPr>
            <a:r>
              <a:rPr sz="1500" b="0" i="0">
                <a:solidFill>
                  <a:srgbClr val="B9C7D9"/>
                </a:solidFill>
              </a:rPr>
              <a:t>What changed, why it matters, what decision recovers confidence.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37381-8AD4-4BC2-BA5D-029106C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53600"/>
            <a:ext cx="13258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Executive CTA proposed by 4C360.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4ED08-F5C8-4DF1-BE90-C1C32E3D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753600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F86A3"/>
                </a:solidFill>
              </a:defRPr>
            </a:pPr>
            <a:r>
              <a:rPr sz="1050" b="0" i="0">
                <a:solidFill>
                  <a:srgbClr val="6F86A3"/>
                </a:solidFill>
              </a:rPr>
              <a:t>4C360 confidential discussion draft</a:t>
            </a:r>
          </a:p>
        </p:txBody>
      </p:sp>
    </p:spTree>
    <p:extLst>
      <p:ext uri="{BB962C8B-B14F-4D97-AF65-F5344CB8AC3E}">
        <p14:creationId xmlns:p14="http://schemas.microsoft.com/office/powerpoint/2010/main" val="79318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2026-05-17T21:55:57.8820000Z</dcterms:created>
  <dcterms:modified xsi:type="dcterms:W3CDTF">2026-05-17T21:55:57.8820000Z</dcterms:modified>
</coreProperties>
</file>