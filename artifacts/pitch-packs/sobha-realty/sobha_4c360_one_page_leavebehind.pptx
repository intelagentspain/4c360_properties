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839d919bb64fa3" /><Relationship Type="http://schemas.openxmlformats.org/officeDocument/2006/relationships/extended-properties" Target="/docProps/app.xml" Id="Ra72c3cfd19944aec" /><Relationship Type="http://schemas.openxmlformats.org/officeDocument/2006/relationships/officeDocument" Target="/ppt/presentation.xml" Id="R0b9b3821188246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abd73cf0ecc4751"/>
  </p:sldMasterIdLst>
  <p:notesMasterIdLst>
    <p:notesMasterId xmlns:r="http://schemas.openxmlformats.org/officeDocument/2006/relationships" r:id="R4d4910879a6f42dc"/>
  </p:notesMasterIdLst>
  <p:sldIdLst>
    <p:sldId xmlns:r="http://schemas.openxmlformats.org/officeDocument/2006/relationships" id="256" r:id="R6e4ad6dab9da41f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bd73cf0ecc4751" /><Relationship Type="http://schemas.openxmlformats.org/officeDocument/2006/relationships/theme" Target="/ppt/theme/theme1.xml" Id="R305f5fa9a66742f9" /><Relationship Type="http://schemas.openxmlformats.org/officeDocument/2006/relationships/notesMaster" Target="/ppt/notesMasters/notesMaster1.xml" Id="R4d4910879a6f42dc" /><Relationship Type="http://schemas.openxmlformats.org/officeDocument/2006/relationships/presProps" Target="/ppt/presProps.xml" Id="R3a2be93826b84017" /><Relationship Type="http://schemas.openxmlformats.org/officeDocument/2006/relationships/viewProps" Target="/ppt/viewProps.xml" Id="R9f192def5e1b4546" /><Relationship Type="http://schemas.openxmlformats.org/officeDocument/2006/relationships/tableStyles" Target="/ppt/tableStyles.xml" Id="R65ddd61671e24f19" /><Relationship Type="http://schemas.openxmlformats.org/officeDocument/2006/relationships/slide" Target="/ppt/slides/slide1.xml" Id="R6e4ad6dab9da41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8e28ee36eb246e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f9ca7678a7459a" /><Relationship Type="http://schemas.openxmlformats.org/officeDocument/2006/relationships/notesMaster" Target="/ppt/notesMasters/notesMaster1.xml" Id="R2db559f5fbcb4b5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4f7703defa4d74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c0b30e85fc849b0" /><Relationship Type="http://schemas.openxmlformats.org/officeDocument/2006/relationships/slideLayout" Target="/ppt/slideLayouts/slideLayout2.xml" Id="R043f84a22fd1409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3f84a22fd1409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51d032f5904f88" /><Relationship Type="http://schemas.openxmlformats.org/officeDocument/2006/relationships/notesSlide" Target="/ppt/notesSlides/notesSlide1.xml" Id="Rc59b6d6408c44fb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6DECDB-3DC9-4F27-9470-CCD96DDC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111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17BCC-8BF1-4EEA-907C-F93DEDA7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151066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 i="0">
                <a:solidFill>
                  <a:srgbClr val="F4F7FB"/>
                </a:solidFill>
              </a:defRPr>
            </a:pPr>
            <a:r>
              <a:rPr sz="3450" b="1" i="0">
                <a:solidFill>
                  <a:srgbClr val="F4F7FB"/>
                </a:solidFill>
              </a:rPr>
              <a:t>4C360 for Sobha Realty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9A34AB-0FD2-4D4D-B628-13EF9BF90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90600"/>
            <a:ext cx="8610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B9C7D9"/>
                </a:solidFill>
              </a:defRPr>
            </a:pPr>
            <a:r>
              <a:rPr sz="1800" b="0" i="0">
                <a:solidFill>
                  <a:srgbClr val="B9C7D9"/>
                </a:solidFill>
              </a:rPr>
              <a:t>Live quality, delivery, evidence, and handover control for Sobha's scaled development model.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C9550-B580-4304-901F-0EE7F8B3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68828" y="552450"/>
            <a:ext cx="1852422" cy="533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7A45D">
              <a:alpha val="13333"/>
            </a:srgbClr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5DE043-BBA9-4105-9ACD-7D602C56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25800" y="628650"/>
            <a:ext cx="1543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75" b="1" i="0">
                <a:solidFill>
                  <a:srgbClr val="C7A45D"/>
                </a:solidFill>
              </a:defRPr>
            </a:pPr>
            <a:r>
              <a:rPr sz="1275" b="1" i="0">
                <a:solidFill>
                  <a:srgbClr val="C7A45D"/>
                </a:solidFill>
              </a:rPr>
              <a:t>Executive leave-behind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900E1F-5BDD-4F0F-808B-C8BE3AA3A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6954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A45D"/>
          </a:solidFill>
          <a:ln xmlns:a="http://schemas.openxmlformats.org/drawingml/2006/main" w="0">
            <a:solidFill>
              <a:srgbClr val="C7A45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98B48-E9A0-4B7E-B234-584A29EE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3830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C7A45D"/>
                </a:solidFill>
              </a:defRPr>
            </a:pPr>
            <a:r>
              <a:rPr sz="2025" b="1" i="0">
                <a:solidFill>
                  <a:srgbClr val="C7A45D"/>
                </a:solidFill>
              </a:rPr>
              <a:t>Sobha-specific problem frame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DD6E27-FCC5-4BE3-8820-5A8886F74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7658100" cy="1009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B9C7D9"/>
                </a:solidFill>
              </a:defRPr>
            </a:pPr>
            <a:r>
              <a:rPr sz="1650" b="0" i="0">
                <a:solidFill>
                  <a:srgbClr val="B9C7D9"/>
                </a:solidFill>
              </a:rPr>
              <a:t>Public facts show a premium developer scaling through quality, backward integration, sustainability, and multiple UAE developments. The operating risk is not whether Sobha values quality; it is whether quality, evidence, approvals, vendors, programme, and handover confidence stay visible as scale compounds.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9A6783-FE78-4A40-AAB9-0614DCCB4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95650"/>
            <a:ext cx="76581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D3FF"/>
                </a:solidFill>
              </a:defRPr>
            </a:pPr>
            <a:r>
              <a:rPr sz="2025" b="1" i="0">
                <a:solidFill>
                  <a:srgbClr val="18D3FF"/>
                </a:solidFill>
              </a:rPr>
              <a:t>Pilot wedge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F5012-94B5-44C4-BDB6-ED2E4DD5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7658100" cy="76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B9C7D9"/>
                </a:solidFill>
              </a:defRPr>
            </a:pPr>
            <a:r>
              <a:rPr sz="1650" b="0" i="0">
                <a:solidFill>
                  <a:srgbClr val="B9C7D9"/>
                </a:solidFill>
              </a:rPr>
              <a:t>Run one 6-8 week Live Project Control Twin pilot on an active tower/masterplan workstream. Start from project material, generate the baseline, simulate or connect live events, and review weekly executive decisions.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04B75A-20FA-418B-BFCB-701DBAC14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01540"/>
            <a:ext cx="7650099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0C213A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B30BD52-7000-40B4-A497-47BDD4191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895850"/>
            <a:ext cx="72009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 i="0">
                <a:solidFill>
                  <a:srgbClr val="F4F7FB"/>
                </a:solidFill>
              </a:defRPr>
            </a:pPr>
            <a:r>
              <a:rPr sz="1875" b="1" i="0">
                <a:solidFill>
                  <a:srgbClr val="F4F7FB"/>
                </a:solidFill>
              </a:rPr>
              <a:t>Meeting CTA: 60-minute discovery workshop + pilot candidate selection.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A57FED-386B-4040-A4F3-33522601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38300"/>
            <a:ext cx="8972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C7A45D"/>
                </a:solidFill>
              </a:defRPr>
            </a:pPr>
            <a:r>
              <a:rPr sz="2025" b="1" i="0">
                <a:solidFill>
                  <a:srgbClr val="C7A45D"/>
                </a:solidFill>
              </a:rPr>
              <a:t>Modules mapped to pain points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093EA3-0558-48D8-92C9-A594B0096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764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ProjectCommand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32ECB1-0134-4F87-AE44-7779FB29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076450"/>
            <a:ext cx="701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Programme, cost, risk, stage gates, and handover confidence in one live twin.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AA8FFB-29AC-43BB-B94E-83ACB48E0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45745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Evidence Command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4B0972-BE45-441D-BAA4-1ED4A259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2457450"/>
            <a:ext cx="70104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Accepted proof, rejected evidence, authority documents, and warranty packs tied to gates.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D4099-8C24-4A02-9ACD-64A668A25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0861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VendorIQ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9579D3-D219-4353-B746-1BE71D6F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086100"/>
            <a:ext cx="701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Vendor/package scoring across delivery, quality, evidence, cost, and escalation.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70EC581-7267-4C99-BA5C-B28858E1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4671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ResidentPortal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F5DEBA-6B4E-4000-86DF-F4E00A60D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467100"/>
            <a:ext cx="701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Handover readiness, snag closure, documents, warranty, and buyer trust.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E72747C-F8B1-40FF-83BF-4B9FAD62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48100"/>
            <a:ext cx="1809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18D3FF"/>
                </a:solidFill>
              </a:defRPr>
            </a:pPr>
            <a:r>
              <a:rPr sz="1650" b="1" i="0">
                <a:solidFill>
                  <a:srgbClr val="18D3FF"/>
                </a:solidFill>
              </a:rPr>
              <a:t>ESG Evidence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CFC113-D25A-46D7-A76B-48202A43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0850" y="3848100"/>
            <a:ext cx="7010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B9C7D9"/>
                </a:solidFill>
              </a:defRPr>
            </a:pPr>
            <a:r>
              <a:rPr sz="1575" b="0" i="0">
                <a:solidFill>
                  <a:srgbClr val="B9C7D9"/>
                </a:solidFill>
              </a:rPr>
              <a:t>Operational proof for sustainability, utilities, initiatives, and reporting readiness.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6BCDF5-3C83-4F2B-9C47-58DFFF314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229100"/>
            <a:ext cx="8972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262"/>
          </a:solidFill>
          <a:ln xmlns:a="http://schemas.openxmlformats.org/drawingml/2006/main" w="0">
            <a:solidFill>
              <a:srgbClr val="2342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BA3414-0720-4C36-A526-D68408C4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81500"/>
            <a:ext cx="89725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 i="0">
                <a:solidFill>
                  <a:srgbClr val="F4F7FB"/>
                </a:solidFill>
              </a:defRPr>
            </a:pPr>
            <a:r>
              <a:rPr sz="1650" b="1" i="0">
                <a:solidFill>
                  <a:srgbClr val="F4F7FB"/>
                </a:solidFill>
              </a:rPr>
              <a:t>Measurement targets: float protected, evidence gaps closed, approval blockers surfaced earlier, vendor issue cycle time reduced, handover confidence improved.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2DFE784-BF97-411A-AA3B-EC9E72AFE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753600"/>
            <a:ext cx="16954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 b="0" i="0">
                <a:solidFill>
                  <a:srgbClr val="6F86A3"/>
                </a:solidFill>
              </a:defRPr>
            </a:pPr>
            <a:r>
              <a:rPr sz="975" b="0" i="0">
                <a:solidFill>
                  <a:srgbClr val="6F86A3"/>
                </a:solidFill>
              </a:rPr>
              <a:t>Sources: Sobha public site, Sobha Signature Quality, Sobha FY2025 announcement, Sobha Energy Solutions announcement. Assumptions are clearly framed as pilot hypotheses.</a:t>
            </a:r>
          </a:p>
        </p:txBody>
      </p:sp>
    </p:spTree>
    <p:extLst>
      <p:ext uri="{BB962C8B-B14F-4D97-AF65-F5344CB8AC3E}">
        <p14:creationId xmlns:p14="http://schemas.microsoft.com/office/powerpoint/2010/main" val="14739546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2026-05-17T23:25:55.0370000Z</dcterms:created>
  <dcterms:modified xsi:type="dcterms:W3CDTF">2026-05-17T23:25:55.0370000Z</dcterms:modified>
</coreProperties>
</file>