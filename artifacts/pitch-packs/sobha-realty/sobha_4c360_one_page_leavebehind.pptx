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e2e9dec20264206" /><Relationship Type="http://schemas.openxmlformats.org/officeDocument/2006/relationships/extended-properties" Target="/docProps/app.xml" Id="Rf255b04080524ad0" /><Relationship Type="http://schemas.openxmlformats.org/officeDocument/2006/relationships/officeDocument" Target="/ppt/presentation.xml" Id="R6d873f6a79df43d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694b63349204c5c"/>
  </p:sldMasterIdLst>
  <p:notesMasterIdLst>
    <p:notesMasterId xmlns:r="http://schemas.openxmlformats.org/officeDocument/2006/relationships" r:id="R42ac4d91a1d04b59"/>
  </p:notesMasterIdLst>
  <p:sldIdLst>
    <p:sldId xmlns:r="http://schemas.openxmlformats.org/officeDocument/2006/relationships" id="256" r:id="R3d815c2253ef4f70"/>
  </p:sldIdLst>
  <p:sldSz cx="18288000" cy="10287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694b63349204c5c" /><Relationship Type="http://schemas.openxmlformats.org/officeDocument/2006/relationships/theme" Target="/ppt/theme/theme1.xml" Id="R4c714d67429f4405" /><Relationship Type="http://schemas.openxmlformats.org/officeDocument/2006/relationships/notesMaster" Target="/ppt/notesMasters/notesMaster1.xml" Id="R42ac4d91a1d04b59" /><Relationship Type="http://schemas.openxmlformats.org/officeDocument/2006/relationships/presProps" Target="/ppt/presProps.xml" Id="R205880df72e949b5" /><Relationship Type="http://schemas.openxmlformats.org/officeDocument/2006/relationships/viewProps" Target="/ppt/viewProps.xml" Id="R42f36f948c6f4872" /><Relationship Type="http://schemas.openxmlformats.org/officeDocument/2006/relationships/tableStyles" Target="/ppt/tableStyles.xml" Id="Rce4f061584994929" /><Relationship Type="http://schemas.openxmlformats.org/officeDocument/2006/relationships/slide" Target="/ppt/slides/slide1.xml" Id="R3d815c2253ef4f7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3d8317d1c1d9498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0e1bcdd6d254a35" /><Relationship Type="http://schemas.openxmlformats.org/officeDocument/2006/relationships/notesMaster" Target="/ppt/notesMasters/notesMaster1.xml" Id="R05ea0530d1894e0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c8a43290d224aaf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c74d3d5636264af7" /><Relationship Type="http://schemas.openxmlformats.org/officeDocument/2006/relationships/slideLayout" Target="/ppt/slideLayouts/slideLayout2.xml" Id="R8ac4efd0ed6c483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ac4efd0ed6c483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4c6d92aab3f4963" /><Relationship Type="http://schemas.openxmlformats.org/officeDocument/2006/relationships/notesSlide" Target="/ppt/notesSlides/notesSlide1.xml" Id="Rf18e5a2e62d74c4a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55170E5-3850-4B29-9DB6-7AE24D2BB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11F"/>
          </a:solidFill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6E304D-FD9D-4A5D-84AA-079181AFC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1000"/>
            <a:ext cx="1510665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450" b="1" i="0">
                <a:solidFill>
                  <a:srgbClr val="F4F7FB"/>
                </a:solidFill>
              </a:defRPr>
            </a:pPr>
            <a:r>
              <a:rPr sz="3450" b="1" i="0">
                <a:solidFill>
                  <a:srgbClr val="F4F7FB"/>
                </a:solidFill>
              </a:rPr>
              <a:t>4C360 for Sobha Realty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FE6155-EBC5-49EB-84AB-1918EBAF5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90600"/>
            <a:ext cx="86106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0" i="0">
                <a:solidFill>
                  <a:srgbClr val="B9C7D9"/>
                </a:solidFill>
              </a:defRPr>
            </a:pPr>
            <a:r>
              <a:rPr sz="1800" b="0" i="0">
                <a:solidFill>
                  <a:srgbClr val="B9C7D9"/>
                </a:solidFill>
              </a:rPr>
              <a:t>Live quality, delivery, evidence, and handover control for Sobha's scaled development model.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B55886-314C-406B-A09E-B8DF8906F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68828" y="552450"/>
            <a:ext cx="1852422" cy="533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7A45D">
              <a:alpha val="13333"/>
            </a:srgbClr>
          </a:solidFill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E90986-59CC-4EF1-A14B-B46E8EBBF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25800" y="628650"/>
            <a:ext cx="15430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1" i="0">
                <a:solidFill>
                  <a:srgbClr val="C7A45D"/>
                </a:solidFill>
              </a:defRPr>
            </a:pPr>
            <a:r>
              <a:rPr sz="1275" b="1" i="0">
                <a:solidFill>
                  <a:srgbClr val="C7A45D"/>
                </a:solidFill>
              </a:rPr>
              <a:t>Executive leave-behind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272507-850D-4690-8557-B337D1F89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28750"/>
            <a:ext cx="16954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A45D"/>
          </a:solidFill>
          <a:ln xmlns:a="http://schemas.openxmlformats.org/drawingml/2006/main" w="0">
            <a:solidFill>
              <a:srgbClr val="C7A45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4B3E49-6162-43B0-8853-9FDA8A10E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38300"/>
            <a:ext cx="76581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 i="0">
                <a:solidFill>
                  <a:srgbClr val="C7A45D"/>
                </a:solidFill>
              </a:defRPr>
            </a:pPr>
            <a:r>
              <a:rPr sz="2025" b="1" i="0">
                <a:solidFill>
                  <a:srgbClr val="C7A45D"/>
                </a:solidFill>
              </a:rPr>
              <a:t>Sobha-specific problem frame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AB101A-4CBD-41CE-9032-2AA848536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14550"/>
            <a:ext cx="7658100" cy="1009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0" i="0">
                <a:solidFill>
                  <a:srgbClr val="B9C7D9"/>
                </a:solidFill>
              </a:defRPr>
            </a:pPr>
            <a:r>
              <a:rPr sz="1650" b="0" i="0">
                <a:solidFill>
                  <a:srgbClr val="B9C7D9"/>
                </a:solidFill>
              </a:rPr>
              <a:t>Public facts show a premium developer scaling through quality, backward integration, sustainability, and multiple UAE developments. The operating risk is not whether Sobha values quality; it is whether quality, evidence, approvals, vendors, programme, and handover confidence stay visible as scale compounds.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24BBDE-3226-454E-AFDB-6EADAAB91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95650"/>
            <a:ext cx="76581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 i="0">
                <a:solidFill>
                  <a:srgbClr val="18D3FF"/>
                </a:solidFill>
              </a:defRPr>
            </a:pPr>
            <a:r>
              <a:rPr sz="2025" b="1" i="0">
                <a:solidFill>
                  <a:srgbClr val="18D3FF"/>
                </a:solidFill>
              </a:rPr>
              <a:t>Pilot wedge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03207B-6D92-4DB3-87B2-80CB6BCE0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71900"/>
            <a:ext cx="765810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0" i="0">
                <a:solidFill>
                  <a:srgbClr val="B9C7D9"/>
                </a:solidFill>
              </a:defRPr>
            </a:pPr>
            <a:r>
              <a:rPr sz="1650" b="0" i="0">
                <a:solidFill>
                  <a:srgbClr val="B9C7D9"/>
                </a:solidFill>
              </a:rPr>
              <a:t>Run one 6-8 week Live Project Control Twin pilot on an active tower/masterplan workstream. Start from project material, generate the baseline, simulate or connect live events, and review weekly executive decisions.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A7923A-2D1B-4410-97D4-9CF179065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01540"/>
            <a:ext cx="7650099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0C213A"/>
          </a:solidFill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A78D792-0AAE-4F4E-9560-86BEF745C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895850"/>
            <a:ext cx="72009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 i="0">
                <a:solidFill>
                  <a:srgbClr val="F4F7FB"/>
                </a:solidFill>
              </a:defRPr>
            </a:pPr>
            <a:r>
              <a:rPr sz="1875" b="1" i="0">
                <a:solidFill>
                  <a:srgbClr val="F4F7FB"/>
                </a:solidFill>
              </a:rPr>
              <a:t>Meeting CTA: 60-minute discovery workshop + pilot candidate selection.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4182E1A-ED47-43A0-9CAA-46C4E9E68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1638300"/>
            <a:ext cx="89725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 b="1" i="0">
                <a:solidFill>
                  <a:srgbClr val="C7A45D"/>
                </a:solidFill>
              </a:defRPr>
            </a:pPr>
            <a:r>
              <a:rPr sz="2025" b="1" i="0">
                <a:solidFill>
                  <a:srgbClr val="C7A45D"/>
                </a:solidFill>
              </a:rPr>
              <a:t>Modules mapped to pain points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316A4E9-2A3A-45B5-B1E0-3B9471A3D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076450"/>
            <a:ext cx="18097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 i="0">
                <a:solidFill>
                  <a:srgbClr val="18D3FF"/>
                </a:solidFill>
              </a:defRPr>
            </a:pPr>
            <a:r>
              <a:rPr sz="1650" b="1" i="0">
                <a:solidFill>
                  <a:srgbClr val="18D3FF"/>
                </a:solidFill>
              </a:rPr>
              <a:t>ProjectCommand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F87DF84-6E44-4C2A-9E13-ABC616B10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2076450"/>
            <a:ext cx="70104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0" i="0">
                <a:solidFill>
                  <a:srgbClr val="B9C7D9"/>
                </a:solidFill>
              </a:defRPr>
            </a:pPr>
            <a:r>
              <a:rPr sz="1575" b="0" i="0">
                <a:solidFill>
                  <a:srgbClr val="B9C7D9"/>
                </a:solidFill>
              </a:rPr>
              <a:t>Programme, cost, risk, stage gates, and handover confidence in one live twin.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7F4594C-0135-40FB-B73C-D260D616B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457450"/>
            <a:ext cx="18097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 i="0">
                <a:solidFill>
                  <a:srgbClr val="18D3FF"/>
                </a:solidFill>
              </a:defRPr>
            </a:pPr>
            <a:r>
              <a:rPr sz="1650" b="1" i="0">
                <a:solidFill>
                  <a:srgbClr val="18D3FF"/>
                </a:solidFill>
              </a:rPr>
              <a:t>Evidence Command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CCB7097-2593-48BC-BBFA-CD9D73A4D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2457450"/>
            <a:ext cx="70104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0" i="0">
                <a:solidFill>
                  <a:srgbClr val="B9C7D9"/>
                </a:solidFill>
              </a:defRPr>
            </a:pPr>
            <a:r>
              <a:rPr sz="1575" b="0" i="0">
                <a:solidFill>
                  <a:srgbClr val="B9C7D9"/>
                </a:solidFill>
              </a:rPr>
              <a:t>Accepted proof, rejected evidence, authority documents, and warranty packs tied to gates.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9E4290B-A866-4D79-B2EA-50A4B4675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3086100"/>
            <a:ext cx="18097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 i="0">
                <a:solidFill>
                  <a:srgbClr val="18D3FF"/>
                </a:solidFill>
              </a:defRPr>
            </a:pPr>
            <a:r>
              <a:rPr sz="1650" b="1" i="0">
                <a:solidFill>
                  <a:srgbClr val="18D3FF"/>
                </a:solidFill>
              </a:rPr>
              <a:t>VendorIQ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7B2BCD3-C2C6-4081-AEA4-6A27DF94F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3086100"/>
            <a:ext cx="70104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0" i="0">
                <a:solidFill>
                  <a:srgbClr val="B9C7D9"/>
                </a:solidFill>
              </a:defRPr>
            </a:pPr>
            <a:r>
              <a:rPr sz="1575" b="0" i="0">
                <a:solidFill>
                  <a:srgbClr val="B9C7D9"/>
                </a:solidFill>
              </a:rPr>
              <a:t>Vendor/package scoring across delivery, quality, evidence, cost, and escalation.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654BDEA-8091-494E-8336-86FEB1931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3467100"/>
            <a:ext cx="18097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 i="0">
                <a:solidFill>
                  <a:srgbClr val="18D3FF"/>
                </a:solidFill>
              </a:defRPr>
            </a:pPr>
            <a:r>
              <a:rPr sz="1650" b="1" i="0">
                <a:solidFill>
                  <a:srgbClr val="18D3FF"/>
                </a:solidFill>
              </a:rPr>
              <a:t>ResidentPortal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8CAC509-3980-4DA0-9FBC-D6133E061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3467100"/>
            <a:ext cx="70104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0" i="0">
                <a:solidFill>
                  <a:srgbClr val="B9C7D9"/>
                </a:solidFill>
              </a:defRPr>
            </a:pPr>
            <a:r>
              <a:rPr sz="1575" b="0" i="0">
                <a:solidFill>
                  <a:srgbClr val="B9C7D9"/>
                </a:solidFill>
              </a:rPr>
              <a:t>Handover readiness, snag closure, documents, warranty, and buyer trust.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B314BF8-4545-441D-A6BD-A489E13D8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3848100"/>
            <a:ext cx="18097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 i="0">
                <a:solidFill>
                  <a:srgbClr val="18D3FF"/>
                </a:solidFill>
              </a:defRPr>
            </a:pPr>
            <a:r>
              <a:rPr sz="1650" b="1" i="0">
                <a:solidFill>
                  <a:srgbClr val="18D3FF"/>
                </a:solidFill>
              </a:rPr>
              <a:t>ESG Evidence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048FE70-B994-4220-A8E1-3369D7F15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3848100"/>
            <a:ext cx="70104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0" i="0">
                <a:solidFill>
                  <a:srgbClr val="B9C7D9"/>
                </a:solidFill>
              </a:defRPr>
            </a:pPr>
            <a:r>
              <a:rPr sz="1575" b="0" i="0">
                <a:solidFill>
                  <a:srgbClr val="B9C7D9"/>
                </a:solidFill>
              </a:rPr>
              <a:t>Operational proof for sustainability, utilities, initiatives, and reporting readiness.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A1C8BFD-7BBE-4760-826A-C81718656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4229100"/>
            <a:ext cx="89725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4262"/>
          </a:solidFill>
          <a:ln xmlns:a="http://schemas.openxmlformats.org/drawingml/2006/main" w="0">
            <a:solidFill>
              <a:srgbClr val="23426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7DCB1F6-D519-43A8-BF99-F46783DBF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4381500"/>
            <a:ext cx="897255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 i="0">
                <a:solidFill>
                  <a:srgbClr val="F4F7FB"/>
                </a:solidFill>
              </a:defRPr>
            </a:pPr>
            <a:r>
              <a:rPr sz="1650" b="1" i="0">
                <a:solidFill>
                  <a:srgbClr val="F4F7FB"/>
                </a:solidFill>
              </a:rPr>
              <a:t>Measurement targets: float protected, evidence gaps closed, approval blockers surfaced earlier, vendor issue cycle time reduced, handover confidence improved.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5EE7FD2-A9A5-461E-BEE6-F8F81A1FE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753600"/>
            <a:ext cx="169545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975" b="0" i="0">
                <a:solidFill>
                  <a:srgbClr val="6F86A3"/>
                </a:solidFill>
              </a:defRPr>
            </a:pPr>
            <a:r>
              <a:rPr sz="975" b="0" i="0">
                <a:solidFill>
                  <a:srgbClr val="6F86A3"/>
                </a:solidFill>
              </a:rPr>
              <a:t>Sources: Sobha public site, Sobha Signature Quality, Sobha FY2025 announcement, Sobha Energy Solutions announcement. Assumptions are clearly framed as pilot hypotheses.</a:t>
            </a:r>
          </a:p>
        </p:txBody>
      </p:sp>
    </p:spTree>
    <p:extLst>
      <p:ext uri="{BB962C8B-B14F-4D97-AF65-F5344CB8AC3E}">
        <p14:creationId xmlns:p14="http://schemas.microsoft.com/office/powerpoint/2010/main" val="43257474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2026-05-17T21:56:01.6310000Z</dcterms:created>
  <dcterms:modified xsi:type="dcterms:W3CDTF">2026-05-17T21:56:01.6310000Z</dcterms:modified>
</coreProperties>
</file>